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0"/>
  </p:notesMasterIdLst>
  <p:sldIdLst>
    <p:sldId id="256" r:id="rId2"/>
    <p:sldId id="257" r:id="rId3"/>
    <p:sldId id="269" r:id="rId4"/>
    <p:sldId id="268" r:id="rId5"/>
    <p:sldId id="272" r:id="rId6"/>
    <p:sldId id="270" r:id="rId7"/>
    <p:sldId id="265" r:id="rId8"/>
    <p:sldId id="266"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 /><Relationship Id="rId2" Type="http://schemas.microsoft.com/office/2011/relationships/chartColorStyle" Target="colors1.xml" /><Relationship Id="rId1" Type="http://schemas.microsoft.com/office/2011/relationships/chartStyle" Target="style1.xml" /><Relationship Id="rId4" Type="http://schemas.openxmlformats.org/officeDocument/2006/relationships/oleObject" Target="file:///C:\Users\HP\Desktop\yeshas\yeshas%20final%20yr%20project%20timeline.xlsx" TargetMode="External" /></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t>Project</a:t>
            </a:r>
            <a:r>
              <a:rPr lang="en-IN" baseline="0"/>
              <a:t> Timeline</a:t>
            </a:r>
            <a:endParaRPr lang="en-IN"/>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stacked"/>
        <c:varyColors val="0"/>
        <c:ser>
          <c:idx val="0"/>
          <c:order val="0"/>
          <c:tx>
            <c:strRef>
              <c:f>Sheet1!$B$1</c:f>
              <c:strCache>
                <c:ptCount val="1"/>
                <c:pt idx="0">
                  <c:v>Start date</c:v>
                </c:pt>
              </c:strCache>
            </c:strRef>
          </c:tx>
          <c:spPr>
            <a:noFill/>
            <a:ln>
              <a:noFill/>
            </a:ln>
            <a:effectLst/>
          </c:spPr>
          <c:invertIfNegative val="0"/>
          <c:cat>
            <c:strRef>
              <c:f>Sheet1!$A$2:$A$6</c:f>
              <c:strCache>
                <c:ptCount val="5"/>
                <c:pt idx="0">
                  <c:v>Review-0 (Finalisation of title and commencement of project work)</c:v>
                </c:pt>
                <c:pt idx="1">
                  <c:v>Review-1</c:v>
                </c:pt>
                <c:pt idx="2">
                  <c:v>Review-2</c:v>
                </c:pt>
                <c:pt idx="3">
                  <c:v>Review-3</c:v>
                </c:pt>
                <c:pt idx="4">
                  <c:v>Final Viva-Voce</c:v>
                </c:pt>
              </c:strCache>
            </c:strRef>
          </c:cat>
          <c:val>
            <c:numRef>
              <c:f>Sheet1!$B$2:$B$6</c:f>
              <c:numCache>
                <c:formatCode>m/d/yyyy</c:formatCode>
                <c:ptCount val="5"/>
                <c:pt idx="0">
                  <c:v>45547</c:v>
                </c:pt>
                <c:pt idx="1">
                  <c:v>45559</c:v>
                </c:pt>
                <c:pt idx="2">
                  <c:v>45580</c:v>
                </c:pt>
                <c:pt idx="3">
                  <c:v>45615</c:v>
                </c:pt>
                <c:pt idx="4">
                  <c:v>45643</c:v>
                </c:pt>
              </c:numCache>
            </c:numRef>
          </c:val>
          <c:extLst>
            <c:ext xmlns:c16="http://schemas.microsoft.com/office/drawing/2014/chart" uri="{C3380CC4-5D6E-409C-BE32-E72D297353CC}">
              <c16:uniqueId val="{00000000-EA3A-4D08-B76C-D3BDB91A6F72}"/>
            </c:ext>
          </c:extLst>
        </c:ser>
        <c:ser>
          <c:idx val="1"/>
          <c:order val="1"/>
          <c:tx>
            <c:strRef>
              <c:f>Sheet1!$D$1</c:f>
              <c:strCache>
                <c:ptCount val="1"/>
                <c:pt idx="0">
                  <c:v>Duration</c:v>
                </c:pt>
              </c:strCache>
            </c:strRef>
          </c:tx>
          <c:spPr>
            <a:solidFill>
              <a:schemeClr val="accent2"/>
            </a:solidFill>
            <a:ln>
              <a:noFill/>
            </a:ln>
            <a:effectLst/>
          </c:spPr>
          <c:invertIfNegative val="0"/>
          <c:cat>
            <c:strRef>
              <c:f>Sheet1!$A$2:$A$6</c:f>
              <c:strCache>
                <c:ptCount val="5"/>
                <c:pt idx="0">
                  <c:v>Review-0 (Finalisation of title and commencement of project work)</c:v>
                </c:pt>
                <c:pt idx="1">
                  <c:v>Review-1</c:v>
                </c:pt>
                <c:pt idx="2">
                  <c:v>Review-2</c:v>
                </c:pt>
                <c:pt idx="3">
                  <c:v>Review-3</c:v>
                </c:pt>
                <c:pt idx="4">
                  <c:v>Final Viva-Voce</c:v>
                </c:pt>
              </c:strCache>
            </c:strRef>
          </c:cat>
          <c:val>
            <c:numRef>
              <c:f>Sheet1!$D$2:$D$6</c:f>
              <c:numCache>
                <c:formatCode>General</c:formatCode>
                <c:ptCount val="5"/>
                <c:pt idx="0">
                  <c:v>7</c:v>
                </c:pt>
                <c:pt idx="1">
                  <c:v>4</c:v>
                </c:pt>
                <c:pt idx="2">
                  <c:v>7</c:v>
                </c:pt>
                <c:pt idx="3">
                  <c:v>4</c:v>
                </c:pt>
                <c:pt idx="4">
                  <c:v>4</c:v>
                </c:pt>
              </c:numCache>
            </c:numRef>
          </c:val>
          <c:extLst>
            <c:ext xmlns:c16="http://schemas.microsoft.com/office/drawing/2014/chart" uri="{C3380CC4-5D6E-409C-BE32-E72D297353CC}">
              <c16:uniqueId val="{00000001-EA3A-4D08-B76C-D3BDB91A6F72}"/>
            </c:ext>
          </c:extLst>
        </c:ser>
        <c:dLbls>
          <c:showLegendKey val="0"/>
          <c:showVal val="0"/>
          <c:showCatName val="0"/>
          <c:showSerName val="0"/>
          <c:showPercent val="0"/>
          <c:showBubbleSize val="0"/>
        </c:dLbls>
        <c:gapWidth val="150"/>
        <c:overlap val="100"/>
        <c:axId val="1637041679"/>
        <c:axId val="1637039279"/>
      </c:barChart>
      <c:catAx>
        <c:axId val="1637041679"/>
        <c:scaling>
          <c:orientation val="maxMin"/>
        </c:scaling>
        <c:delete val="0"/>
        <c:axPos val="l"/>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Progress</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37039279"/>
        <c:crosses val="autoZero"/>
        <c:auto val="1"/>
        <c:lblAlgn val="ctr"/>
        <c:lblOffset val="100"/>
        <c:noMultiLvlLbl val="0"/>
      </c:catAx>
      <c:valAx>
        <c:axId val="1637039279"/>
        <c:scaling>
          <c:orientation val="minMax"/>
        </c:scaling>
        <c:delete val="0"/>
        <c:axPos val="t"/>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Date</a:t>
                </a:r>
              </a:p>
            </c:rich>
          </c:tx>
          <c:layout>
            <c:manualLayout>
              <c:xMode val="edge"/>
              <c:yMode val="edge"/>
              <c:x val="0.58549939007629215"/>
              <c:y val="0.15740740740740741"/>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m/d/yyyy"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37041679"/>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chart" Target="../charts/chart1.xml"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943357" y="736966"/>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dirty="0">
                <a:solidFill>
                  <a:schemeClr val="tx1"/>
                </a:solidFill>
                <a:latin typeface="Cambria" panose="02040503050406030204" pitchFamily="18" charset="0"/>
                <a:ea typeface="Cambria" panose="02040503050406030204" pitchFamily="18" charset="0"/>
              </a:rPr>
              <a:t>ELECTIVE RECOMMENDATION SYSTEM</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647033" y="1474957"/>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CST-G05</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3445703473"/>
              </p:ext>
            </p:extLst>
          </p:nvPr>
        </p:nvGraphicFramePr>
        <p:xfrm>
          <a:off x="409854" y="1912132"/>
          <a:ext cx="5418675" cy="274326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US" sz="1800" u="none" strike="noStrike" cap="none" dirty="0"/>
                        <a:t>Adarsh S</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20211CST0102</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US" sz="1800" u="none" strike="noStrike" cap="none" dirty="0"/>
                        <a:t>Yeshas H Rao</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20211CST0062</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US" sz="1800" u="none" strike="noStrike" cap="none" dirty="0"/>
                        <a:t>Rishikesh R</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20211CST0095</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r>
                        <a:rPr lang="en-US" sz="1800" u="none" strike="noStrike" cap="none" dirty="0"/>
                        <a:t>Tejo Sai Yaswanth Kemisetti</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20211CST0119</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r>
                        <a:rPr lang="en-US" sz="1800" u="none" strike="noStrike" cap="none" dirty="0"/>
                        <a:t>Harshit Ranjan</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20211CST0079</a:t>
                      </a: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677700" y="2273482"/>
            <a:ext cx="5514300" cy="2020560"/>
          </a:xfrm>
          <a:prstGeom prst="rect">
            <a:avLst/>
          </a:prstGeom>
          <a:noFill/>
          <a:ln>
            <a:noFill/>
          </a:ln>
        </p:spPr>
        <p:txBody>
          <a:bodyPr spcFirstLastPara="1" wrap="square" lIns="91425" tIns="45700" rIns="91425" bIns="45700" anchor="t" anchorCtr="0">
            <a:normAutofit/>
          </a:bodyPr>
          <a:lstStyle/>
          <a:p>
            <a:pPr marL="0" marR="0" lvl="0" indent="0"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 </a:t>
            </a:r>
            <a:r>
              <a:rPr lang="en-GB" sz="1700" b="1" dirty="0">
                <a:solidFill>
                  <a:srgbClr val="17365D"/>
                </a:solidFill>
                <a:latin typeface="Cambria" panose="02040503050406030204" pitchFamily="18" charset="0"/>
                <a:ea typeface="Cambria" panose="02040503050406030204" pitchFamily="18" charset="0"/>
                <a:cs typeface="Verdana"/>
                <a:sym typeface="Verdana"/>
              </a:rPr>
              <a:t>Manjula H M</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Review-0</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685891"/>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B.Tech Computer Science &amp; Technology(AI&amp;ML)</a:t>
            </a: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Dr. Saira Banu Atham</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Dr. Manjula H M</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Abdul Khadar A / Mr. Md Ziaur Rahman</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ea typeface="Cambria" panose="02040503050406030204" pitchFamily="18" charset="0"/>
                <a:cs typeface="Times New Roman" panose="02020603050405020304" pitchFamily="18" charset="0"/>
              </a:rPr>
              <a:t>Problem Statement</a:t>
            </a:r>
          </a:p>
          <a:p>
            <a:pPr marL="495300" lvl="0" indent="-342900" algn="just">
              <a:lnSpc>
                <a:spcPct val="200000"/>
              </a:lnSpc>
              <a:spcBef>
                <a:spcPts val="0"/>
              </a:spcBef>
              <a:buFont typeface="Wingdings" panose="05000000000000000000" pitchFamily="2" charset="2"/>
              <a:buChar char="Ø"/>
            </a:pPr>
            <a:r>
              <a:rPr lang="en-US" dirty="0">
                <a:latin typeface="Times New Roman" panose="02020603050405020304" pitchFamily="18" charset="0"/>
                <a:ea typeface="Cambria" panose="02040503050406030204" pitchFamily="18" charset="0"/>
                <a:cs typeface="Times New Roman" panose="02020603050405020304" pitchFamily="18" charset="0"/>
              </a:rPr>
              <a:t>Analysis of Problem Statement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Times New Roman" panose="02020603050405020304" pitchFamily="18" charset="0"/>
                <a:ea typeface="Cambria" panose="02040503050406030204" pitchFamily="18" charset="0"/>
                <a:cs typeface="Times New Roman" panose="02020603050405020304" pitchFamily="18" charset="0"/>
              </a:rPr>
              <a:t>Timeline of the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Times New Roman" panose="02020603050405020304" pitchFamily="18" charset="0"/>
                <a:ea typeface="Cambria" panose="02040503050406030204" pitchFamily="18" charset="0"/>
                <a:cs typeface="Times New Roman" panose="020206030504050203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PSCS192</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rmAutofit fontScale="70000" lnSpcReduction="20000"/>
          </a:bodyPr>
          <a:lstStyle/>
          <a:p>
            <a:pPr marL="342900" lvl="0" indent="-190500">
              <a:spcBef>
                <a:spcPts val="0"/>
              </a:spcBef>
              <a:buNone/>
            </a:pPr>
            <a:endParaRPr lang="en-US" dirty="0">
              <a:latin typeface="Cambria" panose="02040503050406030204" pitchFamily="18" charset="0"/>
              <a:ea typeface="Cambria" panose="02040503050406030204" pitchFamily="18" charset="0"/>
            </a:endParaRPr>
          </a:p>
          <a:p>
            <a:pPr marL="342900" lvl="0" indent="-190500">
              <a:spcBef>
                <a:spcPts val="0"/>
              </a:spcBef>
              <a:buNone/>
            </a:pPr>
            <a:endParaRPr lang="en-US" dirty="0">
              <a:latin typeface="Cambria" panose="02040503050406030204" pitchFamily="18" charset="0"/>
              <a:ea typeface="Cambria" panose="02040503050406030204" pitchFamily="18" charset="0"/>
            </a:endParaRPr>
          </a:p>
          <a:p>
            <a:pPr marL="342900" lvl="0" indent="-190500">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Organization: Presidency University	</a:t>
            </a:r>
          </a:p>
          <a:p>
            <a:pPr marL="342900" lvl="0" indent="-190500" algn="just">
              <a:lnSpc>
                <a:spcPct val="200000"/>
              </a:lnSpc>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Category(Hardware/Software/Both):Software(AIML, Recommendation systems)</a:t>
            </a:r>
          </a:p>
          <a:p>
            <a:pPr marL="342900" lvl="0" indent="-190500" algn="just">
              <a:lnSpc>
                <a:spcPct val="200000"/>
              </a:lnSpc>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Problem Description: One of the challenges (or complaints) from students at Presidency University is that they are either unable to get the subjects of their choice, as well as, when they get their electives, they realize that their friends are not with them, leading to a lot of confusion. Similarly, there are a number of students who do not get the electives of their choice, and are arbitrarily assigned electives by their corresponding HoD or the timetable committee to try to achieve a balanced distribution of students among the different discipline electives. In this project, students are to develop a system that can aid their fellow students at Presidency University in choosing their different discipline and open electives, by recommending electives to the students and HoDs.</a:t>
            </a:r>
          </a:p>
          <a:p>
            <a:pPr marL="342900" lvl="0" indent="-190500" algn="just">
              <a:lnSpc>
                <a:spcPct val="200000"/>
              </a:lnSpc>
              <a:spcBef>
                <a:spcPts val="0"/>
              </a:spcBef>
              <a:buNone/>
            </a:pPr>
            <a:r>
              <a:rPr lang="en-US" dirty="0">
                <a:latin typeface="Times New Roman" panose="02020603050405020304" pitchFamily="18" charset="0"/>
                <a:ea typeface="Cambria" panose="02040503050406030204" pitchFamily="18" charset="0"/>
                <a:cs typeface="Times New Roman" panose="02020603050405020304" pitchFamily="18" charset="0"/>
              </a:rPr>
              <a:t>Difficulty Level: Complicated/Hard</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Technology Stack Components:</a:t>
            </a:r>
          </a:p>
          <a:p>
            <a:pPr marL="342900" lvl="0" indent="-190500" algn="just" rtl="0">
              <a:spcBef>
                <a:spcPts val="0"/>
              </a:spcBef>
              <a:spcAft>
                <a:spcPts val="0"/>
              </a:spcAft>
              <a:buClr>
                <a:schemeClr val="dk1"/>
              </a:buClr>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To build the AIML based open elective recommendation system we will be using</a:t>
            </a:r>
          </a:p>
          <a:p>
            <a:pPr marL="342900" lvl="0" indent="-190500" rtl="0">
              <a:spcBef>
                <a:spcPts val="0"/>
              </a:spcBef>
              <a:spcAft>
                <a:spcPts val="0"/>
              </a:spcAft>
              <a:buClr>
                <a:schemeClr val="dk1"/>
              </a:buClr>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the following stack components:</a:t>
            </a:r>
          </a:p>
          <a:p>
            <a:pPr marL="495300" lvl="0" indent="-342900" rtl="0">
              <a:spcBef>
                <a:spcPts val="0"/>
              </a:spcBef>
              <a:spcAft>
                <a:spcPts val="0"/>
              </a:spcAft>
              <a:buClr>
                <a:schemeClr val="dk1"/>
              </a:buClr>
              <a:buSzPct val="100000"/>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 </a:t>
            </a:r>
            <a:r>
              <a:rPr lang="en-US" b="1" u="sng" dirty="0">
                <a:latin typeface="Times New Roman" panose="02020603050405020304" pitchFamily="18" charset="0"/>
                <a:ea typeface="Cambria" panose="02040503050406030204" pitchFamily="18" charset="0"/>
                <a:cs typeface="Times New Roman" panose="02020603050405020304" pitchFamily="18" charset="0"/>
              </a:rPr>
              <a:t>Frontend</a:t>
            </a:r>
            <a:r>
              <a:rPr lang="en-US" dirty="0">
                <a:latin typeface="Times New Roman" panose="02020603050405020304" pitchFamily="18" charset="0"/>
                <a:ea typeface="Cambria" panose="02040503050406030204" pitchFamily="18" charset="0"/>
                <a:cs typeface="Times New Roman" panose="02020603050405020304" pitchFamily="18" charset="0"/>
              </a:rPr>
              <a:t>: </a:t>
            </a:r>
            <a:r>
              <a:rPr lang="en-US" sz="2000" dirty="0">
                <a:latin typeface="Times New Roman" panose="02020603050405020304" pitchFamily="18" charset="0"/>
                <a:ea typeface="Cambria" panose="02040503050406030204" pitchFamily="18" charset="0"/>
                <a:cs typeface="Times New Roman" panose="02020603050405020304" pitchFamily="18" charset="0"/>
              </a:rPr>
              <a:t>User Interface(UI) Framework</a:t>
            </a:r>
          </a:p>
          <a:p>
            <a:pPr marL="152400" lvl="0" indent="0" rtl="0">
              <a:spcBef>
                <a:spcPts val="0"/>
              </a:spcBef>
              <a:spcAft>
                <a:spcPts val="0"/>
              </a:spcAft>
              <a:buClr>
                <a:schemeClr val="dk1"/>
              </a:buClr>
              <a:buSzPct val="100000"/>
              <a:buNone/>
            </a:pPr>
            <a:r>
              <a:rPr lang="en-US" dirty="0">
                <a:latin typeface="Times New Roman" panose="02020603050405020304" pitchFamily="18" charset="0"/>
                <a:ea typeface="Cambria" panose="02040503050406030204" pitchFamily="18" charset="0"/>
                <a:cs typeface="Times New Roman" panose="02020603050405020304" pitchFamily="18" charset="0"/>
              </a:rPr>
              <a:t>         </a:t>
            </a:r>
            <a:r>
              <a:rPr lang="en-US" sz="2000" dirty="0">
                <a:latin typeface="Times New Roman" panose="02020603050405020304" pitchFamily="18" charset="0"/>
                <a:ea typeface="Cambria" panose="02040503050406030204" pitchFamily="18" charset="0"/>
                <a:cs typeface="Times New Roman" panose="02020603050405020304" pitchFamily="18" charset="0"/>
              </a:rPr>
              <a:t>1. </a:t>
            </a:r>
            <a:r>
              <a:rPr lang="en-US" sz="2000" b="1" dirty="0">
                <a:latin typeface="Times New Roman" panose="02020603050405020304" pitchFamily="18" charset="0"/>
                <a:ea typeface="Cambria" panose="02040503050406030204" pitchFamily="18" charset="0"/>
                <a:cs typeface="Times New Roman" panose="02020603050405020304" pitchFamily="18" charset="0"/>
              </a:rPr>
              <a:t>HTML, CSS and JavaScript</a:t>
            </a:r>
            <a:r>
              <a:rPr lang="en-US" sz="2000" dirty="0">
                <a:latin typeface="Times New Roman" panose="02020603050405020304" pitchFamily="18" charset="0"/>
                <a:ea typeface="Cambria" panose="02040503050406030204" pitchFamily="18" charset="0"/>
                <a:cs typeface="Times New Roman" panose="02020603050405020304" pitchFamily="18" charset="0"/>
              </a:rPr>
              <a:t>: for building the web interface.</a:t>
            </a:r>
          </a:p>
          <a:p>
            <a:pPr marL="152400" lvl="0" indent="0" rtl="0">
              <a:spcBef>
                <a:spcPts val="0"/>
              </a:spcBef>
              <a:spcAft>
                <a:spcPts val="0"/>
              </a:spcAft>
              <a:buClr>
                <a:schemeClr val="dk1"/>
              </a:buClr>
              <a:buSzPct val="100000"/>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2. </a:t>
            </a:r>
            <a:r>
              <a:rPr lang="en-US" sz="2000" b="1" dirty="0">
                <a:latin typeface="Times New Roman" panose="02020603050405020304" pitchFamily="18" charset="0"/>
                <a:ea typeface="Cambria" panose="02040503050406030204" pitchFamily="18" charset="0"/>
                <a:cs typeface="Times New Roman" panose="02020603050405020304" pitchFamily="18" charset="0"/>
              </a:rPr>
              <a:t>React.js</a:t>
            </a:r>
            <a:r>
              <a:rPr lang="en-US" sz="2000" dirty="0">
                <a:latin typeface="Times New Roman" panose="02020603050405020304" pitchFamily="18" charset="0"/>
                <a:ea typeface="Cambria" panose="02040503050406030204" pitchFamily="18" charset="0"/>
                <a:cs typeface="Times New Roman" panose="02020603050405020304" pitchFamily="18" charset="0"/>
              </a:rPr>
              <a:t>: for making the webpage more dynamic and single-page application (SPA)</a:t>
            </a:r>
          </a:p>
          <a:p>
            <a:pPr marL="152400" lvl="0" indent="0" rtl="0">
              <a:spcBef>
                <a:spcPts val="0"/>
              </a:spcBef>
              <a:spcAft>
                <a:spcPts val="0"/>
              </a:spcAft>
              <a:buClr>
                <a:schemeClr val="dk1"/>
              </a:buClr>
              <a:buSzPct val="100000"/>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3. </a:t>
            </a:r>
            <a:r>
              <a:rPr lang="en-US" sz="2000" b="1" dirty="0">
                <a:latin typeface="Times New Roman" panose="02020603050405020304" pitchFamily="18" charset="0"/>
                <a:ea typeface="Cambria" panose="02040503050406030204" pitchFamily="18" charset="0"/>
                <a:cs typeface="Times New Roman" panose="02020603050405020304" pitchFamily="18" charset="0"/>
              </a:rPr>
              <a:t>Bootstrap</a:t>
            </a:r>
            <a:r>
              <a:rPr lang="en-US" sz="2000" dirty="0">
                <a:latin typeface="Times New Roman" panose="02020603050405020304" pitchFamily="18" charset="0"/>
                <a:ea typeface="Cambria" panose="02040503050406030204" pitchFamily="18" charset="0"/>
                <a:cs typeface="Times New Roman" panose="02020603050405020304" pitchFamily="18" charset="0"/>
              </a:rPr>
              <a:t>: to add styling to the responsive webpage</a:t>
            </a:r>
            <a:endParaRPr lang="en-US" u="sng" dirty="0">
              <a:latin typeface="Times New Roman" panose="02020603050405020304" pitchFamily="18" charset="0"/>
              <a:ea typeface="Cambria" panose="02040503050406030204" pitchFamily="18" charset="0"/>
              <a:cs typeface="Times New Roman" panose="02020603050405020304" pitchFamily="18" charset="0"/>
            </a:endParaRPr>
          </a:p>
          <a:p>
            <a:pPr marL="495300" indent="-342900" algn="just">
              <a:spcBef>
                <a:spcPts val="0"/>
              </a:spcBef>
              <a:buSzPct val="100000"/>
            </a:pPr>
            <a:r>
              <a:rPr lang="en-US" b="1" u="sng" dirty="0">
                <a:latin typeface="Times New Roman" panose="02020603050405020304" pitchFamily="18" charset="0"/>
                <a:ea typeface="Cambria" panose="02040503050406030204" pitchFamily="18" charset="0"/>
                <a:cs typeface="Times New Roman" panose="02020603050405020304" pitchFamily="18" charset="0"/>
              </a:rPr>
              <a:t>Backend</a:t>
            </a:r>
            <a:r>
              <a:rPr lang="en-US" dirty="0">
                <a:latin typeface="Times New Roman" panose="02020603050405020304" pitchFamily="18" charset="0"/>
                <a:ea typeface="Cambria" panose="02040503050406030204" pitchFamily="18" charset="0"/>
                <a:cs typeface="Times New Roman" panose="02020603050405020304" pitchFamily="18" charset="0"/>
              </a:rPr>
              <a:t>: </a:t>
            </a:r>
            <a:r>
              <a:rPr lang="en-US" sz="2000" dirty="0">
                <a:latin typeface="Times New Roman" panose="02020603050405020304" pitchFamily="18" charset="0"/>
                <a:ea typeface="Cambria" panose="02040503050406030204" pitchFamily="18" charset="0"/>
                <a:cs typeface="Times New Roman" panose="02020603050405020304" pitchFamily="18" charset="0"/>
              </a:rPr>
              <a:t>Server-side framework</a:t>
            </a:r>
          </a:p>
          <a:p>
            <a:pPr marL="152400" indent="0" algn="just">
              <a:spcBef>
                <a:spcPts val="0"/>
              </a:spcBef>
              <a:buSzPct val="100000"/>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1. </a:t>
            </a:r>
            <a:r>
              <a:rPr lang="en-US" sz="2000" b="1" dirty="0">
                <a:latin typeface="Times New Roman" panose="02020603050405020304" pitchFamily="18" charset="0"/>
                <a:ea typeface="Cambria" panose="02040503050406030204" pitchFamily="18" charset="0"/>
                <a:cs typeface="Times New Roman" panose="02020603050405020304" pitchFamily="18" charset="0"/>
              </a:rPr>
              <a:t>Node.js</a:t>
            </a:r>
            <a:r>
              <a:rPr lang="en-US" sz="2000" dirty="0">
                <a:latin typeface="Times New Roman" panose="02020603050405020304" pitchFamily="18" charset="0"/>
                <a:ea typeface="Cambria" panose="02040503050406030204" pitchFamily="18" charset="0"/>
                <a:cs typeface="Times New Roman" panose="02020603050405020304" pitchFamily="18" charset="0"/>
              </a:rPr>
              <a:t>: for JavaScript based backend development</a:t>
            </a:r>
          </a:p>
          <a:p>
            <a:pPr marL="152400" indent="0" algn="just">
              <a:spcBef>
                <a:spcPts val="0"/>
              </a:spcBef>
              <a:buSzPct val="100000"/>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2. </a:t>
            </a:r>
            <a:r>
              <a:rPr lang="en-US" sz="2000" b="1" dirty="0">
                <a:latin typeface="Times New Roman" panose="02020603050405020304" pitchFamily="18" charset="0"/>
                <a:ea typeface="Cambria" panose="02040503050406030204" pitchFamily="18" charset="0"/>
                <a:cs typeface="Times New Roman" panose="02020603050405020304" pitchFamily="18" charset="0"/>
              </a:rPr>
              <a:t>Collaborative Filtering</a:t>
            </a:r>
            <a:r>
              <a:rPr lang="en-US" sz="2000" dirty="0">
                <a:latin typeface="Times New Roman" panose="02020603050405020304" pitchFamily="18" charset="0"/>
                <a:ea typeface="Cambria" panose="02040503050406030204" pitchFamily="18" charset="0"/>
                <a:cs typeface="Times New Roman" panose="02020603050405020304" pitchFamily="18" charset="0"/>
              </a:rPr>
              <a:t>: based on similar students' elective choices.</a:t>
            </a:r>
          </a:p>
          <a:p>
            <a:pPr marL="152400" indent="0" algn="just">
              <a:spcBef>
                <a:spcPts val="0"/>
              </a:spcBef>
              <a:buSzPct val="100000"/>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3. </a:t>
            </a:r>
            <a:r>
              <a:rPr lang="en-US" sz="2000" b="1" dirty="0">
                <a:latin typeface="Times New Roman" panose="02020603050405020304" pitchFamily="18" charset="0"/>
                <a:ea typeface="Cambria" panose="02040503050406030204" pitchFamily="18" charset="0"/>
                <a:cs typeface="Times New Roman" panose="02020603050405020304" pitchFamily="18" charset="0"/>
              </a:rPr>
              <a:t>Content-Based Filtering</a:t>
            </a:r>
            <a:r>
              <a:rPr lang="en-US" sz="2000" dirty="0">
                <a:latin typeface="Times New Roman" panose="02020603050405020304" pitchFamily="18" charset="0"/>
                <a:ea typeface="Cambria" panose="02040503050406030204" pitchFamily="18" charset="0"/>
                <a:cs typeface="Times New Roman" panose="02020603050405020304" pitchFamily="18" charset="0"/>
              </a:rPr>
              <a:t>: based on the course content</a:t>
            </a:r>
          </a:p>
          <a:p>
            <a:pPr marL="152400" indent="0" algn="just">
              <a:spcBef>
                <a:spcPts val="0"/>
              </a:spcBef>
              <a:buSzPct val="100000"/>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4. </a:t>
            </a:r>
            <a:r>
              <a:rPr lang="en-US" sz="2000" b="1" dirty="0">
                <a:latin typeface="Times New Roman" panose="02020603050405020304" pitchFamily="18" charset="0"/>
                <a:ea typeface="Cambria" panose="02040503050406030204" pitchFamily="18" charset="0"/>
                <a:cs typeface="Times New Roman" panose="02020603050405020304" pitchFamily="18" charset="0"/>
              </a:rPr>
              <a:t>Libraries</a:t>
            </a:r>
            <a:r>
              <a:rPr lang="en-US" sz="2000" dirty="0">
                <a:latin typeface="Times New Roman" panose="02020603050405020304" pitchFamily="18" charset="0"/>
                <a:ea typeface="Cambria" panose="02040503050406030204" pitchFamily="18" charset="0"/>
                <a:cs typeface="Times New Roman" panose="02020603050405020304" pitchFamily="18" charset="0"/>
              </a:rPr>
              <a:t>: </a:t>
            </a:r>
            <a:r>
              <a:rPr lang="en-US" sz="2000" i="1" dirty="0">
                <a:latin typeface="Times New Roman" panose="02020603050405020304" pitchFamily="18" charset="0"/>
                <a:ea typeface="Cambria" panose="02040503050406030204" pitchFamily="18" charset="0"/>
                <a:cs typeface="Times New Roman" panose="02020603050405020304" pitchFamily="18" charset="0"/>
              </a:rPr>
              <a:t>gradio</a:t>
            </a:r>
            <a:r>
              <a:rPr lang="en-US" sz="2000" dirty="0">
                <a:latin typeface="Times New Roman" panose="02020603050405020304" pitchFamily="18" charset="0"/>
                <a:ea typeface="Cambria" panose="02040503050406030204" pitchFamily="18" charset="0"/>
                <a:cs typeface="Times New Roman" panose="02020603050405020304" pitchFamily="18" charset="0"/>
              </a:rPr>
              <a:t>- to build quick interface to share the ML model.</a:t>
            </a:r>
          </a:p>
          <a:p>
            <a:pPr marL="495300" indent="-342900" algn="just">
              <a:spcBef>
                <a:spcPts val="0"/>
              </a:spcBef>
              <a:buSzPct val="100000"/>
              <a:buFont typeface="Arial" panose="020B0604020202020204" pitchFamily="34" charset="0"/>
              <a:buChar char="•"/>
            </a:pPr>
            <a:r>
              <a:rPr lang="en-US" b="1" u="sng" dirty="0">
                <a:latin typeface="Times New Roman" panose="02020603050405020304" pitchFamily="18" charset="0"/>
                <a:ea typeface="Cambria" panose="02040503050406030204" pitchFamily="18" charset="0"/>
                <a:cs typeface="Times New Roman" panose="02020603050405020304" pitchFamily="18" charset="0"/>
              </a:rPr>
              <a:t>Database</a:t>
            </a:r>
            <a:r>
              <a:rPr lang="en-US" sz="2000" dirty="0">
                <a:latin typeface="Times New Roman" panose="02020603050405020304" pitchFamily="18" charset="0"/>
                <a:ea typeface="Cambria" panose="02040503050406030204" pitchFamily="18" charset="0"/>
                <a:cs typeface="Times New Roman" panose="02020603050405020304" pitchFamily="18" charset="0"/>
              </a:rPr>
              <a:t>: SQL database can be created containing all the relevant data.</a:t>
            </a:r>
          </a:p>
          <a:p>
            <a:pPr marL="152400" indent="0" algn="just">
              <a:spcBef>
                <a:spcPts val="0"/>
              </a:spcBef>
              <a:buSzPct val="100000"/>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a:t>
            </a: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err="1">
                <a:latin typeface="Cambria" panose="02040503050406030204" pitchFamily="18" charset="0"/>
                <a:ea typeface="Cambria" panose="02040503050406030204" pitchFamily="18" charset="0"/>
              </a:rPr>
              <a:t>Softw</a:t>
            </a:r>
            <a:r>
              <a:rPr lang="en-IN" dirty="0" err="1">
                <a:latin typeface="Cambria" panose="02040503050406030204" pitchFamily="18" charset="0"/>
                <a:ea typeface="Cambria" panose="02040503050406030204" pitchFamily="18" charset="0"/>
              </a:rPr>
              <a:t>ar</a:t>
            </a:r>
            <a:r>
              <a:rPr lang="en-US" dirty="0">
                <a:latin typeface="Cambria" panose="02040503050406030204" pitchFamily="18" charset="0"/>
                <a:ea typeface="Cambria" panose="02040503050406030204" pitchFamily="18" charset="0"/>
              </a:rPr>
              <a:t>e Requirements: </a:t>
            </a: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HTML, CSS, JavaScript, react.js and bootstrap for frontend development.</a:t>
            </a: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Node.js and various filtering methods for server-side framework.</a:t>
            </a: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r>
              <a:rPr lang="en-US" sz="2000" dirty="0">
                <a:latin typeface="Times New Roman" panose="02020603050405020304" pitchFamily="18" charset="0"/>
                <a:ea typeface="Cambria" panose="02040503050406030204" pitchFamily="18" charset="0"/>
                <a:cs typeface="Times New Roman" panose="02020603050405020304" pitchFamily="18" charset="0"/>
              </a:rPr>
              <a:t>Libraries like: </a:t>
            </a:r>
            <a:r>
              <a:rPr lang="en-US" sz="2000" i="1" dirty="0">
                <a:latin typeface="Times New Roman" panose="02020603050405020304" pitchFamily="18" charset="0"/>
                <a:ea typeface="Cambria" panose="02040503050406030204" pitchFamily="18" charset="0"/>
                <a:cs typeface="Times New Roman" panose="02020603050405020304" pitchFamily="18" charset="0"/>
              </a:rPr>
              <a:t>gradio</a:t>
            </a:r>
            <a:r>
              <a:rPr lang="en-US" sz="2000" dirty="0">
                <a:latin typeface="Times New Roman" panose="02020603050405020304" pitchFamily="18" charset="0"/>
                <a:ea typeface="Cambria" panose="02040503050406030204" pitchFamily="18" charset="0"/>
                <a:cs typeface="Times New Roman" panose="02020603050405020304" pitchFamily="18" charset="0"/>
              </a:rPr>
              <a:t> for building an interface to share the model, </a:t>
            </a:r>
            <a:r>
              <a:rPr lang="en-US" sz="2000" i="1" dirty="0">
                <a:latin typeface="Times New Roman" panose="02020603050405020304" pitchFamily="18" charset="0"/>
                <a:ea typeface="Cambria" panose="02040503050406030204" pitchFamily="18" charset="0"/>
                <a:cs typeface="Times New Roman" panose="02020603050405020304" pitchFamily="18" charset="0"/>
              </a:rPr>
              <a:t>Scikit learn </a:t>
            </a:r>
            <a:r>
              <a:rPr lang="en-US" sz="2000" dirty="0">
                <a:latin typeface="Times New Roman" panose="02020603050405020304" pitchFamily="18" charset="0"/>
                <a:ea typeface="Cambria" panose="02040503050406030204" pitchFamily="18" charset="0"/>
                <a:cs typeface="Times New Roman" panose="02020603050405020304" pitchFamily="18" charset="0"/>
              </a:rPr>
              <a:t>and </a:t>
            </a:r>
            <a:r>
              <a:rPr lang="en-US" sz="2000" i="1" dirty="0">
                <a:latin typeface="Times New Roman" panose="02020603050405020304" pitchFamily="18" charset="0"/>
                <a:ea typeface="Cambria" panose="02040503050406030204" pitchFamily="18" charset="0"/>
                <a:cs typeface="Times New Roman" panose="02020603050405020304" pitchFamily="18" charset="0"/>
              </a:rPr>
              <a:t>TensorFlow</a:t>
            </a:r>
            <a:r>
              <a:rPr lang="en-US" sz="2000" dirty="0">
                <a:latin typeface="Times New Roman" panose="02020603050405020304" pitchFamily="18" charset="0"/>
                <a:ea typeface="Cambria" panose="02040503050406030204" pitchFamily="18" charset="0"/>
                <a:cs typeface="Times New Roman" panose="02020603050405020304" pitchFamily="18" charset="0"/>
              </a:rPr>
              <a:t> for modelling the data, </a:t>
            </a:r>
            <a:r>
              <a:rPr lang="en-US" sz="2000" i="1" dirty="0">
                <a:latin typeface="Times New Roman" panose="02020603050405020304" pitchFamily="18" charset="0"/>
                <a:ea typeface="Cambria" panose="02040503050406030204" pitchFamily="18" charset="0"/>
                <a:cs typeface="Times New Roman" panose="02020603050405020304" pitchFamily="18" charset="0"/>
              </a:rPr>
              <a:t>pa</a:t>
            </a:r>
            <a:r>
              <a:rPr lang="en-IN" sz="2000" i="1" dirty="0" err="1">
                <a:latin typeface="Times New Roman" panose="02020603050405020304" pitchFamily="18" charset="0"/>
                <a:ea typeface="Cambria" panose="02040503050406030204" pitchFamily="18" charset="0"/>
                <a:cs typeface="Times New Roman" panose="02020603050405020304" pitchFamily="18" charset="0"/>
              </a:rPr>
              <a:t>ndas</a:t>
            </a:r>
            <a:r>
              <a:rPr lang="en-IN" sz="2000" i="1" dirty="0">
                <a:latin typeface="Times New Roman" panose="02020603050405020304" pitchFamily="18" charset="0"/>
                <a:ea typeface="Cambria" panose="02040503050406030204" pitchFamily="18" charset="0"/>
                <a:cs typeface="Times New Roman" panose="02020603050405020304" pitchFamily="18" charset="0"/>
              </a:rPr>
              <a:t> </a:t>
            </a:r>
            <a:r>
              <a:rPr lang="en-IN" sz="2000" dirty="0">
                <a:latin typeface="Times New Roman" panose="02020603050405020304" pitchFamily="18" charset="0"/>
                <a:ea typeface="Cambria" panose="02040503050406030204" pitchFamily="18" charset="0"/>
                <a:cs typeface="Times New Roman" panose="02020603050405020304" pitchFamily="18" charset="0"/>
              </a:rPr>
              <a:t>for data </a:t>
            </a:r>
            <a:r>
              <a:rPr lang="en-IN" sz="2000" dirty="0" err="1">
                <a:latin typeface="Times New Roman" panose="02020603050405020304" pitchFamily="18" charset="0"/>
                <a:ea typeface="Cambria" panose="02040503050406030204" pitchFamily="18" charset="0"/>
                <a:cs typeface="Times New Roman" panose="02020603050405020304" pitchFamily="18" charset="0"/>
              </a:rPr>
              <a:t>preprocessing</a:t>
            </a:r>
            <a:r>
              <a:rPr lang="en-IN" sz="2000" dirty="0">
                <a:latin typeface="Times New Roman" panose="02020603050405020304" pitchFamily="18" charset="0"/>
                <a:ea typeface="Cambria" panose="02040503050406030204" pitchFamily="18" charset="0"/>
                <a:cs typeface="Times New Roman" panose="02020603050405020304" pitchFamily="18" charset="0"/>
              </a:rPr>
              <a:t> and transformation, </a:t>
            </a:r>
            <a:r>
              <a:rPr lang="en-IN" sz="2000" i="1" dirty="0" err="1">
                <a:latin typeface="Times New Roman" panose="02020603050405020304" pitchFamily="18" charset="0"/>
                <a:ea typeface="Cambria" panose="02040503050406030204" pitchFamily="18" charset="0"/>
                <a:cs typeface="Times New Roman" panose="02020603050405020304" pitchFamily="18" charset="0"/>
              </a:rPr>
              <a:t>Numpy</a:t>
            </a:r>
            <a:r>
              <a:rPr lang="en-IN" sz="2000" dirty="0">
                <a:latin typeface="Times New Roman" panose="02020603050405020304" pitchFamily="18" charset="0"/>
                <a:ea typeface="Cambria" panose="02040503050406030204" pitchFamily="18" charset="0"/>
                <a:cs typeface="Times New Roman" panose="02020603050405020304" pitchFamily="18" charset="0"/>
              </a:rPr>
              <a:t> for various scientific computations like arithmetic operations, statistical operations, array operations, linear algebra etc.</a:t>
            </a:r>
            <a:endParaRPr lang="en-US" sz="2000" dirty="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ct val="100000"/>
              <a:buNone/>
            </a:pPr>
            <a:endParaRPr lang="en-US" sz="20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ct val="100000"/>
              <a:buFont typeface="Arial" panose="020B0604020202020204" pitchFamily="34" charset="0"/>
              <a:buChar char="•"/>
            </a:pPr>
            <a:endParaRPr lang="en-US" dirty="0">
              <a:latin typeface="Cambria" panose="02040503050406030204" pitchFamily="18" charset="0"/>
              <a:ea typeface="Cambria" panose="02040503050406030204" pitchFamily="18" charset="0"/>
            </a:endParaRPr>
          </a:p>
          <a:p>
            <a:pPr marL="342900" lvl="0" indent="-190500"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graphicFrame>
        <p:nvGraphicFramePr>
          <p:cNvPr id="5" name="Chart 4">
            <a:extLst>
              <a:ext uri="{FF2B5EF4-FFF2-40B4-BE49-F238E27FC236}">
                <a16:creationId xmlns:a16="http://schemas.microsoft.com/office/drawing/2014/main" id="{B5EA604D-4FB5-788B-DD26-1A943D6CA1AE}"/>
              </a:ext>
            </a:extLst>
          </p:cNvPr>
          <p:cNvGraphicFramePr>
            <a:graphicFrameLocks/>
          </p:cNvGraphicFramePr>
          <p:nvPr/>
        </p:nvGraphicFramePr>
        <p:xfrm>
          <a:off x="195262" y="2057400"/>
          <a:ext cx="11801476"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79890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Add APA Citation for all references.</a:t>
            </a:r>
          </a:p>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Use the below link for various APA styles :</a:t>
            </a:r>
          </a:p>
          <a:p>
            <a:pPr marL="495300" indent="-342900">
              <a:spcBef>
                <a:spcPts val="0"/>
              </a:spcBef>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152400" indent="0">
              <a:spcBef>
                <a:spcPts val="0"/>
              </a:spcBef>
              <a:buNone/>
            </a:pPr>
            <a:r>
              <a:rPr lang="en-US" dirty="0">
                <a:latin typeface="Cambria" panose="02040503050406030204" pitchFamily="18" charset="0"/>
                <a:ea typeface="Cambria" panose="02040503050406030204" pitchFamily="18" charset="0"/>
              </a:rPr>
              <a:t>https://www.indeed.com/career-advice/career-development/how-to-cite-a-research-paper</a:t>
            </a:r>
          </a:p>
          <a:p>
            <a:pPr marL="152400" indent="0">
              <a:spcBef>
                <a:spcPts val="0"/>
              </a:spcBef>
              <a:buNone/>
            </a:pPr>
            <a:r>
              <a:rPr lang="en-US"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296</TotalTime>
  <Words>564</Words>
  <Application>Microsoft Office PowerPoint</Application>
  <PresentationFormat>Widescreen</PresentationFormat>
  <Paragraphs>72</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Bioinformatics</vt:lpstr>
      <vt:lpstr>ELECTIVE RECOMMENDATION SYSTEM</vt:lpstr>
      <vt:lpstr>Content</vt:lpstr>
      <vt:lpstr>Problem Statement Number: PSCS192</vt:lpstr>
      <vt:lpstr>Analysis of Problem Statement</vt:lpstr>
      <vt:lpstr>Analysis of Problem Statement (contd...)</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YESHAS H RAO</cp:lastModifiedBy>
  <cp:revision>47</cp:revision>
  <dcterms:modified xsi:type="dcterms:W3CDTF">2024-09-13T15:23:56Z</dcterms:modified>
</cp:coreProperties>
</file>