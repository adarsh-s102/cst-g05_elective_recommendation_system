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 r:id="rId2"/>
    <p:sldId id="257" r:id="rId3"/>
    <p:sldId id="258" r:id="rId4"/>
    <p:sldId id="260" r:id="rId5"/>
    <p:sldId id="261" r:id="rId6"/>
    <p:sldId id="278" r:id="rId7"/>
    <p:sldId id="277" r:id="rId8"/>
    <p:sldId id="262" r:id="rId9"/>
    <p:sldId id="263" r:id="rId10"/>
    <p:sldId id="264" r:id="rId11"/>
    <p:sldId id="268" r:id="rId12"/>
    <p:sldId id="265" r:id="rId13"/>
    <p:sldId id="274" r:id="rId14"/>
    <p:sldId id="26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113" d="100"/>
          <a:sy n="113" d="100"/>
        </p:scale>
        <p:origin x="47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notesMaster" Target="notesMasters/notesMaster1.xml" /><Relationship Id="rId20"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8AD288-E15B-4271-B55D-DDB1B43DC8BE}" type="datetimeFigureOut">
              <a:rPr lang="en-IN" smtClean="0"/>
              <a:t>17-10-2024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6EC8B7-7AE0-485D-8CE3-A3E29B97A364}" type="slidenum">
              <a:rPr lang="en-IN" smtClean="0"/>
              <a:t>‹#›</a:t>
            </a:fld>
            <a:endParaRPr lang="en-IN"/>
          </a:p>
        </p:txBody>
      </p:sp>
    </p:spTree>
    <p:extLst>
      <p:ext uri="{BB962C8B-B14F-4D97-AF65-F5344CB8AC3E}">
        <p14:creationId xmlns:p14="http://schemas.microsoft.com/office/powerpoint/2010/main" val="1146367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50877" y="1322386"/>
            <a:ext cx="10363200" cy="1470025"/>
          </a:xfrm>
        </p:spPr>
        <p:txBody>
          <a:bodyPr/>
          <a:lstStyle>
            <a:lvl1pPr>
              <a:defRPr>
                <a:solidFill>
                  <a:schemeClr val="tx2">
                    <a:lumMod val="75000"/>
                  </a:schemeClr>
                </a:solidFill>
              </a:defRPr>
            </a:lvl1pPr>
          </a:lstStyle>
          <a:p>
            <a:r>
              <a:rPr lang="en-US"/>
              <a:t>Click to edit Master title style</a:t>
            </a:r>
          </a:p>
        </p:txBody>
      </p:sp>
      <p:sp>
        <p:nvSpPr>
          <p:cNvPr id="3" name="Subtitle 2"/>
          <p:cNvSpPr>
            <a:spLocks noGrp="1"/>
          </p:cNvSpPr>
          <p:nvPr>
            <p:ph type="subTitle" idx="1"/>
          </p:nvPr>
        </p:nvSpPr>
        <p:spPr>
          <a:xfrm>
            <a:off x="2032000" y="3326641"/>
            <a:ext cx="8534400" cy="1752600"/>
          </a:xfrm>
        </p:spPr>
        <p:txBody>
          <a:bodyPr>
            <a:normAutofit/>
          </a:bodyPr>
          <a:lstStyle>
            <a:lvl1pPr marL="0" indent="0" algn="ctr">
              <a:buNone/>
              <a:defRPr sz="2000" b="1">
                <a:solidFill>
                  <a:schemeClr val="tx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94CE30-7D40-4BC0-BA0D-56C992D5B4BD}" type="datetimeFigureOut">
              <a:rPr lang="en-GB" smtClean="0"/>
              <a:t>17/10/2024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167997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17/10/2024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190914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994CE30-7D40-4BC0-BA0D-56C992D5B4BD}" type="datetimeFigureOut">
              <a:rPr lang="en-GB" smtClean="0"/>
              <a:t>17/10/2024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406418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lang="en-US" dirty="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994CE30-7D40-4BC0-BA0D-56C992D5B4BD}" type="datetimeFigureOut">
              <a:rPr lang="en-GB" smtClean="0"/>
              <a:t>17/10/2024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738786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9368" y="304800"/>
            <a:ext cx="10668000" cy="487362"/>
          </a:xfrm>
        </p:spPr>
        <p:txBody>
          <a:bodyPr/>
          <a:lstStyle>
            <a:lvl1pPr>
              <a:defRPr>
                <a:solidFill>
                  <a:srgbClr val="FF0000"/>
                </a:solidFill>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94CE30-7D40-4BC0-BA0D-56C992D5B4BD}" type="datetimeFigureOut">
              <a:rPr lang="en-GB" smtClean="0"/>
              <a:t>17/10/2024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01633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60800" y="274638"/>
            <a:ext cx="7721600" cy="487362"/>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4994CE30-7D40-4BC0-BA0D-56C992D5B4BD}" type="datetimeFigureOut">
              <a:rPr lang="en-GB" smtClean="0"/>
              <a:t>17/10/2024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BCD3F7E-62B3-4FB9-95CE-D1B0CC271B85}" type="slidenum">
              <a:rPr lang="en-GB" smtClean="0"/>
              <a:t>‹#›</a:t>
            </a:fld>
            <a:endParaRPr lang="en-GB"/>
          </a:p>
        </p:txBody>
      </p:sp>
      <p:pic>
        <p:nvPicPr>
          <p:cNvPr id="2051" name="Picture 3" descr="C:\Users\AMMU\Desktop\Border.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5209" y="139874"/>
            <a:ext cx="9686793" cy="698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2022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94CE30-7D40-4BC0-BA0D-56C992D5B4BD}" type="datetimeFigureOut">
              <a:rPr lang="en-GB" smtClean="0"/>
              <a:t>17/10/2024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24971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17/10/2024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521564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17/10/2024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874595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17/10/2024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96261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17/10/2024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7830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pn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274638"/>
            <a:ext cx="10668000" cy="487362"/>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12800" y="1143001"/>
            <a:ext cx="10668000" cy="495299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latin typeface="Verdana" pitchFamily="34" charset="0"/>
                <a:ea typeface="Verdana" pitchFamily="34" charset="0"/>
                <a:cs typeface="Verdana" pitchFamily="34" charset="0"/>
              </a:defRPr>
            </a:lvl1pPr>
          </a:lstStyle>
          <a:p>
            <a:fld id="{4994CE30-7D40-4BC0-BA0D-56C992D5B4BD}" type="datetimeFigureOut">
              <a:rPr lang="en-GB" smtClean="0"/>
              <a:t>17/10/2024</a:t>
            </a:fld>
            <a:endParaRPr lang="en-GB"/>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latin typeface="Verdana" pitchFamily="34" charset="0"/>
                <a:ea typeface="Verdana" pitchFamily="34" charset="0"/>
                <a:cs typeface="Verdana" pitchFamily="34" charset="0"/>
              </a:defRPr>
            </a:lvl1pPr>
          </a:lstStyle>
          <a:p>
            <a:endParaRPr lang="en-GB"/>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latin typeface="Verdana" pitchFamily="34" charset="0"/>
                <a:ea typeface="Verdana" pitchFamily="34" charset="0"/>
                <a:cs typeface="Verdana" pitchFamily="34" charset="0"/>
              </a:defRPr>
            </a:lvl1pPr>
          </a:lstStyle>
          <a:p>
            <a:fld id="{1BCD3F7E-62B3-4FB9-95CE-D1B0CC271B85}" type="slidenum">
              <a:rPr lang="en-GB" smtClean="0"/>
              <a:t>‹#›</a:t>
            </a:fld>
            <a:endParaRPr lang="en-GB"/>
          </a:p>
        </p:txBody>
      </p:sp>
      <p:sp>
        <p:nvSpPr>
          <p:cNvPr id="8" name="Line 6">
            <a:extLst>
              <a:ext uri="{FF2B5EF4-FFF2-40B4-BE49-F238E27FC236}">
                <a16:creationId xmlns:a16="http://schemas.microsoft.com/office/drawing/2014/main" id="{3F0EAE8F-8B4C-436F-93E6-DF250930561C}"/>
              </a:ext>
            </a:extLst>
          </p:cNvPr>
          <p:cNvSpPr>
            <a:spLocks noChangeShapeType="1"/>
          </p:cNvSpPr>
          <p:nvPr/>
        </p:nvSpPr>
        <p:spPr bwMode="auto">
          <a:xfrm>
            <a:off x="812800" y="914400"/>
            <a:ext cx="10668000" cy="0"/>
          </a:xfrm>
          <a:prstGeom prst="line">
            <a:avLst/>
          </a:prstGeom>
          <a:noFill/>
          <a:ln w="57150" cmpd="thickThin">
            <a:solidFill>
              <a:schemeClr val="tx1"/>
            </a:solidFill>
            <a:round/>
            <a:headEnd/>
            <a:tailEnd/>
          </a:ln>
          <a:effectLst/>
        </p:spPr>
        <p:txBody>
          <a:bodyPr/>
          <a:lstStyle/>
          <a:p>
            <a:pPr>
              <a:defRPr/>
            </a:pPr>
            <a:endParaRPr lang="en-IN" sz="1800"/>
          </a:p>
        </p:txBody>
      </p:sp>
      <p:pic>
        <p:nvPicPr>
          <p:cNvPr id="7" name="Picture 7">
            <a:extLst>
              <a:ext uri="{FF2B5EF4-FFF2-40B4-BE49-F238E27FC236}">
                <a16:creationId xmlns:a16="http://schemas.microsoft.com/office/drawing/2014/main" id="{F5847C07-33FE-4652-A9FD-CD40E657B784}"/>
              </a:ext>
            </a:extLst>
          </p:cNvPr>
          <p:cNvPicPr>
            <a:picLocks noChangeAspect="1"/>
          </p:cNvPicPr>
          <p:nvPr/>
        </p:nvPicPr>
        <p:blipFill rotWithShape="1">
          <a:blip r:embed="rId13">
            <a:extLst>
              <a:ext uri="{28A0092B-C50C-407E-A947-70E740481C1C}">
                <a14:useLocalDpi xmlns:a14="http://schemas.microsoft.com/office/drawing/2010/main" val="0"/>
              </a:ext>
            </a:extLst>
          </a:blip>
          <a:srcRect b="18045"/>
          <a:stretch/>
        </p:blipFill>
        <p:spPr bwMode="auto">
          <a:xfrm>
            <a:off x="0" y="5991366"/>
            <a:ext cx="12192000" cy="866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48401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2800" b="1" kern="1200">
          <a:solidFill>
            <a:srgbClr val="FF0000"/>
          </a:solidFill>
          <a:latin typeface="Verdana" pitchFamily="34" charset="0"/>
          <a:ea typeface="Verdana" pitchFamily="34" charset="0"/>
          <a:cs typeface="Verdana" pitchFamily="34"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Verdana" pitchFamily="34" charset="0"/>
          <a:ea typeface="Verdana" pitchFamily="34" charset="0"/>
          <a:cs typeface="Verdana" pitchFamily="34"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Verdana" pitchFamily="34" charset="0"/>
          <a:ea typeface="Verdana" pitchFamily="34" charset="0"/>
          <a:cs typeface="Verdana" pitchFamily="34"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Verdana" pitchFamily="34" charset="0"/>
          <a:ea typeface="Verdana" pitchFamily="34" charset="0"/>
          <a:cs typeface="Verdana"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1.xml" /><Relationship Id="rId1" Type="http://schemas.openxmlformats.org/officeDocument/2006/relationships/slideLayout" Target="../slideLayouts/slideLayout1.xml" /><Relationship Id="rId5" Type="http://schemas.openxmlformats.org/officeDocument/2006/relationships/image" Target="../media/image5.png" /><Relationship Id="rId4" Type="http://schemas.openxmlformats.org/officeDocument/2006/relationships/image" Target="../media/image4.png"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ADARSH-S102/CST-G05_Elective_Recommendation_System" TargetMode="External" /><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914400" y="713291"/>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dirty="0">
                <a:solidFill>
                  <a:schemeClr val="tx1"/>
                </a:solidFill>
                <a:latin typeface="Cambria" panose="02040503050406030204" pitchFamily="18" charset="0"/>
                <a:ea typeface="Cambria" panose="02040503050406030204" pitchFamily="18" charset="0"/>
              </a:rPr>
              <a:t>ELECTIVE RECOMMENDATION SYSTEM</a:t>
            </a:r>
            <a:endParaRPr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39668" y="1466003"/>
            <a:ext cx="3970500"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Cambria" panose="02040503050406030204" pitchFamily="18" charset="0"/>
                <a:ea typeface="Cambria" panose="02040503050406030204" pitchFamily="18" charset="0"/>
              </a:rPr>
              <a:t>Batch Number: CST-G05</a:t>
            </a:r>
            <a:endParaRPr dirty="0">
              <a:latin typeface="Cambria" panose="02040503050406030204" pitchFamily="18" charset="0"/>
              <a:ea typeface="Cambria" panose="02040503050406030204" pitchFamily="18" charset="0"/>
            </a:endParaRPr>
          </a:p>
          <a:p>
            <a:pPr marL="0" lvl="0" indent="0" algn="l" rtl="0">
              <a:spcBef>
                <a:spcPts val="400"/>
              </a:spcBef>
              <a:spcAft>
                <a:spcPts val="0"/>
              </a:spcAft>
              <a:buClr>
                <a:srgbClr val="17365D"/>
              </a:buClr>
              <a:buSzPts val="2000"/>
              <a:buNone/>
            </a:pPr>
            <a:endParaRPr dirty="0">
              <a:latin typeface="Cambria" panose="02040503050406030204" pitchFamily="18" charset="0"/>
              <a:ea typeface="Cambria" panose="02040503050406030204" pitchFamily="18" charset="0"/>
            </a:endParaRPr>
          </a:p>
        </p:txBody>
      </p:sp>
      <p:sp>
        <p:nvSpPr>
          <p:cNvPr id="91" name="Google Shape;91;p13"/>
          <p:cNvSpPr txBox="1"/>
          <p:nvPr/>
        </p:nvSpPr>
        <p:spPr>
          <a:xfrm>
            <a:off x="3986772" y="305213"/>
            <a:ext cx="3970500" cy="5523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ctr" rtl="0">
              <a:spcBef>
                <a:spcPts val="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PIP2001 Capstone Project</a:t>
            </a:r>
            <a:endParaRPr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pic>
        <p:nvPicPr>
          <p:cNvPr id="3" name="Picture 2">
            <a:extLst>
              <a:ext uri="{FF2B5EF4-FFF2-40B4-BE49-F238E27FC236}">
                <a16:creationId xmlns:a16="http://schemas.microsoft.com/office/drawing/2014/main" id="{B2CDE1BF-532E-DA71-2BB4-48171F259EA9}"/>
              </a:ext>
            </a:extLst>
          </p:cNvPr>
          <p:cNvPicPr>
            <a:picLocks noChangeAspect="1"/>
          </p:cNvPicPr>
          <p:nvPr/>
        </p:nvPicPr>
        <p:blipFill>
          <a:blip r:embed="rId3"/>
          <a:stretch>
            <a:fillRect/>
          </a:stretch>
        </p:blipFill>
        <p:spPr>
          <a:xfrm>
            <a:off x="533919" y="1808117"/>
            <a:ext cx="5438103" cy="2883658"/>
          </a:xfrm>
          <a:prstGeom prst="rect">
            <a:avLst/>
          </a:prstGeom>
        </p:spPr>
      </p:pic>
      <p:pic>
        <p:nvPicPr>
          <p:cNvPr id="4" name="Picture 3">
            <a:extLst>
              <a:ext uri="{FF2B5EF4-FFF2-40B4-BE49-F238E27FC236}">
                <a16:creationId xmlns:a16="http://schemas.microsoft.com/office/drawing/2014/main" id="{4C6F8EC9-4FD2-0BED-621D-BCE4CE21775C}"/>
              </a:ext>
            </a:extLst>
          </p:cNvPr>
          <p:cNvPicPr>
            <a:picLocks noChangeAspect="1"/>
          </p:cNvPicPr>
          <p:nvPr/>
        </p:nvPicPr>
        <p:blipFill>
          <a:blip r:embed="rId4"/>
          <a:stretch>
            <a:fillRect/>
          </a:stretch>
        </p:blipFill>
        <p:spPr>
          <a:xfrm>
            <a:off x="6947504" y="1808117"/>
            <a:ext cx="5578323" cy="2060627"/>
          </a:xfrm>
          <a:prstGeom prst="rect">
            <a:avLst/>
          </a:prstGeom>
        </p:spPr>
      </p:pic>
      <p:pic>
        <p:nvPicPr>
          <p:cNvPr id="5" name="Picture 4">
            <a:extLst>
              <a:ext uri="{FF2B5EF4-FFF2-40B4-BE49-F238E27FC236}">
                <a16:creationId xmlns:a16="http://schemas.microsoft.com/office/drawing/2014/main" id="{5528FAC2-48B5-295E-07D5-45613083C331}"/>
              </a:ext>
            </a:extLst>
          </p:cNvPr>
          <p:cNvPicPr>
            <a:picLocks noChangeAspect="1"/>
          </p:cNvPicPr>
          <p:nvPr/>
        </p:nvPicPr>
        <p:blipFill>
          <a:blip r:embed="rId5"/>
          <a:stretch>
            <a:fillRect/>
          </a:stretch>
        </p:blipFill>
        <p:spPr>
          <a:xfrm>
            <a:off x="123980" y="4641673"/>
            <a:ext cx="12192000" cy="158055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a:t>
            </a:r>
          </a:p>
        </p:txBody>
      </p:sp>
      <p:sp>
        <p:nvSpPr>
          <p:cNvPr id="3" name="Content Placeholder 2"/>
          <p:cNvSpPr>
            <a:spLocks noGrp="1"/>
          </p:cNvSpPr>
          <p:nvPr>
            <p:ph idx="1"/>
          </p:nvPr>
        </p:nvSpPr>
        <p:spPr/>
        <p:txBody>
          <a:bodyPr>
            <a:normAutofit/>
          </a:bodyPr>
          <a:lstStyle/>
          <a:p>
            <a:pPr algn="just"/>
            <a:r>
              <a:rPr lang="en-US" sz="1600" dirty="0">
                <a:effectLst/>
                <a:latin typeface="Times New Roman" panose="02020603050405020304" pitchFamily="18" charset="0"/>
                <a:ea typeface="Times New Roman" panose="02020603050405020304" pitchFamily="18" charset="0"/>
              </a:rPr>
              <a:t>The Elective Recommendation System is designed to assist students in navigating the often-overwhelming process of selecting elective courses. With a wide array of options available, making informed decisions about course selection can be challenging. This system aims to simplify that process by providing personalized course recommendations tailored to individual interests and previous coursework. </a:t>
            </a:r>
            <a:endParaRPr lang="en-IN" sz="1600" dirty="0">
              <a:effectLst/>
              <a:latin typeface="Times New Roman" panose="02020603050405020304" pitchFamily="18" charset="0"/>
              <a:ea typeface="Times New Roman" panose="02020603050405020304" pitchFamily="18" charset="0"/>
            </a:endParaRPr>
          </a:p>
          <a:p>
            <a:pPr algn="just"/>
            <a:r>
              <a:rPr lang="en-US" sz="1600" dirty="0">
                <a:effectLst/>
                <a:latin typeface="Times New Roman" panose="02020603050405020304" pitchFamily="18" charset="0"/>
                <a:ea typeface="Times New Roman" panose="02020603050405020304" pitchFamily="18" charset="0"/>
              </a:rPr>
              <a:t>By entering specific interests and completed courses, students can receive targeted suggestions that align with their academic and career aspirations. The system analyzes this input to generate recommendations, ensuring that students can focus on courses that truly resonate with them while avoiding those they have already completed. This personalized approach not only enhances the learning experience but also encourages students to explore new subjects that can enrich their education.</a:t>
            </a:r>
            <a:endParaRPr lang="en-IN" sz="1600" dirty="0">
              <a:effectLst/>
              <a:latin typeface="Times New Roman" panose="02020603050405020304" pitchFamily="18" charset="0"/>
              <a:ea typeface="Times New Roman" panose="02020603050405020304" pitchFamily="18" charset="0"/>
            </a:endParaRPr>
          </a:p>
          <a:p>
            <a:pPr algn="just"/>
            <a:r>
              <a:rPr lang="en-US" sz="1600" dirty="0">
                <a:effectLst/>
                <a:latin typeface="Times New Roman" panose="02020603050405020304" pitchFamily="18" charset="0"/>
                <a:ea typeface="Times New Roman" panose="02020603050405020304" pitchFamily="18" charset="0"/>
              </a:rPr>
              <a:t>The user-friendly interface makes it easy for students to engage with the system. With a simple input format, users can quickly enter their interests in a comma-separated manner and list completed course IDs. The output is immediate, providing a list of recommended electives or notifying users when no suitable recommendations are available. Additionally, the system offers a comprehensive overview of all available courses, allowing students to explore all their options.</a:t>
            </a:r>
            <a:endParaRPr lang="en-IN" sz="1600" dirty="0">
              <a:effectLst/>
              <a:latin typeface="Times New Roman" panose="02020603050405020304" pitchFamily="18" charset="0"/>
              <a:ea typeface="Times New Roman" panose="02020603050405020304" pitchFamily="18" charset="0"/>
            </a:endParaRPr>
          </a:p>
          <a:p>
            <a:pPr algn="just"/>
            <a:r>
              <a:rPr lang="en-US" sz="1600" dirty="0">
                <a:effectLst/>
                <a:latin typeface="Times New Roman" panose="02020603050405020304" pitchFamily="18" charset="0"/>
                <a:ea typeface="Times New Roman" panose="02020603050405020304" pitchFamily="18" charset="0"/>
              </a:rPr>
              <a:t>In summary, the Elective Recommendation System is an invaluable tool for students looking to optimize their course selections. By offering personalized recommendations and a straightforward user experience, the system empowers students to make informed decisions that align with their goals and interests, ultimately enhancing their academic journey</a:t>
            </a:r>
            <a:r>
              <a:rPr lang="en-US" sz="1800" dirty="0">
                <a:effectLst/>
                <a:latin typeface="Times New Roman" panose="02020603050405020304" pitchFamily="18" charset="0"/>
                <a:ea typeface="Times New Roman" panose="02020603050405020304" pitchFamily="18" charset="0"/>
              </a:rPr>
              <a:t>.</a:t>
            </a:r>
            <a:endParaRPr lang="en-GB" dirty="0"/>
          </a:p>
        </p:txBody>
      </p:sp>
    </p:spTree>
    <p:extLst>
      <p:ext uri="{BB962C8B-B14F-4D97-AF65-F5344CB8AC3E}">
        <p14:creationId xmlns:p14="http://schemas.microsoft.com/office/powerpoint/2010/main" val="3633487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3" y="99022"/>
            <a:ext cx="10668000" cy="487362"/>
          </a:xfrm>
        </p:spPr>
        <p:txBody>
          <a:bodyPr/>
          <a:lstStyle/>
          <a:p>
            <a:r>
              <a:rPr lang="en-GB" dirty="0"/>
              <a:t>Literature Review</a:t>
            </a:r>
          </a:p>
        </p:txBody>
      </p:sp>
      <p:graphicFrame>
        <p:nvGraphicFramePr>
          <p:cNvPr id="4" name="Content Placeholder 3">
            <a:extLst>
              <a:ext uri="{FF2B5EF4-FFF2-40B4-BE49-F238E27FC236}">
                <a16:creationId xmlns:a16="http://schemas.microsoft.com/office/drawing/2014/main" id="{BA6F77D4-426C-31F1-455B-FC088D8FBB3E}"/>
              </a:ext>
            </a:extLst>
          </p:cNvPr>
          <p:cNvGraphicFramePr>
            <a:graphicFrameLocks noGrp="1"/>
          </p:cNvGraphicFramePr>
          <p:nvPr>
            <p:ph idx="1"/>
            <p:extLst>
              <p:ext uri="{D42A27DB-BD31-4B8C-83A1-F6EECF244321}">
                <p14:modId xmlns:p14="http://schemas.microsoft.com/office/powerpoint/2010/main" val="1620716617"/>
              </p:ext>
            </p:extLst>
          </p:nvPr>
        </p:nvGraphicFramePr>
        <p:xfrm>
          <a:off x="761999" y="662584"/>
          <a:ext cx="10761133" cy="5408018"/>
        </p:xfrm>
        <a:graphic>
          <a:graphicData uri="http://schemas.openxmlformats.org/drawingml/2006/table">
            <a:tbl>
              <a:tblPr firstRow="1" firstCol="1" bandRow="1">
                <a:tableStyleId>{5C22544A-7EE6-4342-B048-85BDC9FD1C3A}</a:tableStyleId>
              </a:tblPr>
              <a:tblGrid>
                <a:gridCol w="509991">
                  <a:extLst>
                    <a:ext uri="{9D8B030D-6E8A-4147-A177-3AD203B41FA5}">
                      <a16:colId xmlns:a16="http://schemas.microsoft.com/office/drawing/2014/main" val="3451909655"/>
                    </a:ext>
                  </a:extLst>
                </a:gridCol>
                <a:gridCol w="2143864">
                  <a:extLst>
                    <a:ext uri="{9D8B030D-6E8A-4147-A177-3AD203B41FA5}">
                      <a16:colId xmlns:a16="http://schemas.microsoft.com/office/drawing/2014/main" val="884453082"/>
                    </a:ext>
                  </a:extLst>
                </a:gridCol>
                <a:gridCol w="1144192">
                  <a:extLst>
                    <a:ext uri="{9D8B030D-6E8A-4147-A177-3AD203B41FA5}">
                      <a16:colId xmlns:a16="http://schemas.microsoft.com/office/drawing/2014/main" val="2334102666"/>
                    </a:ext>
                  </a:extLst>
                </a:gridCol>
                <a:gridCol w="2275245">
                  <a:extLst>
                    <a:ext uri="{9D8B030D-6E8A-4147-A177-3AD203B41FA5}">
                      <a16:colId xmlns:a16="http://schemas.microsoft.com/office/drawing/2014/main" val="1666756189"/>
                    </a:ext>
                  </a:extLst>
                </a:gridCol>
                <a:gridCol w="2000543">
                  <a:extLst>
                    <a:ext uri="{9D8B030D-6E8A-4147-A177-3AD203B41FA5}">
                      <a16:colId xmlns:a16="http://schemas.microsoft.com/office/drawing/2014/main" val="1168462346"/>
                    </a:ext>
                  </a:extLst>
                </a:gridCol>
                <a:gridCol w="2687298">
                  <a:extLst>
                    <a:ext uri="{9D8B030D-6E8A-4147-A177-3AD203B41FA5}">
                      <a16:colId xmlns:a16="http://schemas.microsoft.com/office/drawing/2014/main" val="3204427189"/>
                    </a:ext>
                  </a:extLst>
                </a:gridCol>
              </a:tblGrid>
              <a:tr h="194812">
                <a:tc>
                  <a:txBody>
                    <a:bodyPr/>
                    <a:lstStyle/>
                    <a:p>
                      <a:pPr>
                        <a:lnSpc>
                          <a:spcPct val="107000"/>
                        </a:lnSpc>
                        <a:spcAft>
                          <a:spcPts val="800"/>
                        </a:spcAft>
                      </a:pPr>
                      <a:r>
                        <a:rPr lang="en-US" sz="1000" kern="100">
                          <a:effectLst/>
                          <a:latin typeface="Times New Roman" panose="02020603050405020304" pitchFamily="18" charset="0"/>
                          <a:cs typeface="Times New Roman" panose="02020603050405020304" pitchFamily="18" charset="0"/>
                        </a:rPr>
                        <a:t>Sl. No.</a:t>
                      </a:r>
                      <a:r>
                        <a:rPr lang="en-IN" sz="1000" kern="100">
                          <a:effectLst/>
                          <a:latin typeface="Times New Roman" panose="02020603050405020304" pitchFamily="18" charset="0"/>
                          <a:cs typeface="Times New Roman" panose="02020603050405020304" pitchFamily="18" charset="0"/>
                        </a:rPr>
                        <a:t> </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US" sz="1000" kern="100">
                          <a:effectLst/>
                          <a:latin typeface="Times New Roman" panose="02020603050405020304" pitchFamily="18" charset="0"/>
                          <a:cs typeface="Times New Roman" panose="02020603050405020304" pitchFamily="18" charset="0"/>
                        </a:rPr>
                        <a:t>Title of the Paper</a:t>
                      </a:r>
                      <a:r>
                        <a:rPr lang="en-IN" sz="1000" kern="100">
                          <a:effectLst/>
                          <a:latin typeface="Times New Roman" panose="02020603050405020304" pitchFamily="18" charset="0"/>
                          <a:cs typeface="Times New Roman" panose="02020603050405020304" pitchFamily="18" charset="0"/>
                        </a:rPr>
                        <a:t> </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US" sz="1000" kern="100">
                          <a:effectLst/>
                          <a:latin typeface="Times New Roman" panose="02020603050405020304" pitchFamily="18" charset="0"/>
                          <a:cs typeface="Times New Roman" panose="02020603050405020304" pitchFamily="18" charset="0"/>
                        </a:rPr>
                        <a:t>Authors</a:t>
                      </a:r>
                      <a:r>
                        <a:rPr lang="en-IN" sz="1000" kern="100">
                          <a:effectLst/>
                          <a:latin typeface="Times New Roman" panose="02020603050405020304" pitchFamily="18" charset="0"/>
                          <a:cs typeface="Times New Roman" panose="02020603050405020304" pitchFamily="18" charset="0"/>
                        </a:rPr>
                        <a:t> </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US" sz="1000" kern="100" dirty="0">
                          <a:effectLst/>
                          <a:latin typeface="Times New Roman" panose="02020603050405020304" pitchFamily="18" charset="0"/>
                          <a:cs typeface="Times New Roman" panose="02020603050405020304" pitchFamily="18" charset="0"/>
                        </a:rPr>
                        <a:t>Technology/Concept Used</a:t>
                      </a:r>
                      <a:r>
                        <a:rPr lang="en-IN" sz="1000" kern="100" dirty="0">
                          <a:effectLst/>
                          <a:latin typeface="Times New Roman" panose="02020603050405020304" pitchFamily="18" charset="0"/>
                          <a:cs typeface="Times New Roman" panose="02020603050405020304" pitchFamily="18" charset="0"/>
                        </a:rPr>
                        <a:t> </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US" sz="1000" kern="100">
                          <a:effectLst/>
                          <a:latin typeface="Times New Roman" panose="02020603050405020304" pitchFamily="18" charset="0"/>
                          <a:cs typeface="Times New Roman" panose="02020603050405020304" pitchFamily="18" charset="0"/>
                        </a:rPr>
                        <a:t>Results/Findings</a:t>
                      </a:r>
                      <a:r>
                        <a:rPr lang="en-IN" sz="1000" kern="100">
                          <a:effectLst/>
                          <a:latin typeface="Times New Roman" panose="02020603050405020304" pitchFamily="18" charset="0"/>
                          <a:cs typeface="Times New Roman" panose="02020603050405020304" pitchFamily="18" charset="0"/>
                        </a:rPr>
                        <a:t> </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US" sz="1000" kern="100">
                          <a:effectLst/>
                          <a:latin typeface="Times New Roman" panose="02020603050405020304" pitchFamily="18" charset="0"/>
                          <a:cs typeface="Times New Roman" panose="02020603050405020304" pitchFamily="18" charset="0"/>
                        </a:rPr>
                        <a:t>Limitations/Challenges</a:t>
                      </a:r>
                      <a:r>
                        <a:rPr lang="en-IN" sz="1000" kern="100">
                          <a:effectLst/>
                          <a:latin typeface="Times New Roman" panose="02020603050405020304" pitchFamily="18" charset="0"/>
                          <a:cs typeface="Times New Roman" panose="02020603050405020304" pitchFamily="18" charset="0"/>
                        </a:rPr>
                        <a:t> </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084504506"/>
                  </a:ext>
                </a:extLst>
              </a:tr>
              <a:tr h="643152">
                <a:tc>
                  <a:txBody>
                    <a:bodyPr/>
                    <a:lstStyle/>
                    <a:p>
                      <a:pPr>
                        <a:lnSpc>
                          <a:spcPct val="107000"/>
                        </a:lnSpc>
                        <a:spcAft>
                          <a:spcPts val="800"/>
                        </a:spcAft>
                      </a:pPr>
                      <a:r>
                        <a:rPr lang="en-US" sz="1000" kern="100">
                          <a:effectLst/>
                          <a:latin typeface="Times New Roman" panose="02020603050405020304" pitchFamily="18" charset="0"/>
                          <a:cs typeface="Times New Roman" panose="02020603050405020304" pitchFamily="18" charset="0"/>
                        </a:rPr>
                        <a:t>1.</a:t>
                      </a:r>
                      <a:r>
                        <a:rPr lang="en-IN" sz="1000" kern="100">
                          <a:effectLst/>
                          <a:latin typeface="Times New Roman" panose="02020603050405020304" pitchFamily="18" charset="0"/>
                          <a:cs typeface="Times New Roman" panose="02020603050405020304" pitchFamily="18" charset="0"/>
                        </a:rPr>
                        <a:t> </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dirty="0">
                          <a:effectLst/>
                          <a:latin typeface="Times New Roman" panose="02020603050405020304" pitchFamily="18" charset="0"/>
                          <a:cs typeface="Times New Roman" panose="02020603050405020304" pitchFamily="18" charset="0"/>
                        </a:rPr>
                        <a:t>A Systematic Review of Recommendation Systems for Course Selection</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Sharooq Algarni, Fredrick Sheldon</a:t>
                      </a:r>
                    </a:p>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(2023)</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dirty="0">
                          <a:effectLst/>
                          <a:latin typeface="Times New Roman" panose="02020603050405020304" pitchFamily="18" charset="0"/>
                          <a:cs typeface="Times New Roman" panose="02020603050405020304" pitchFamily="18" charset="0"/>
                        </a:rPr>
                        <a:t>Collaborative filtering, content-based filtering, hybrid methods</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Identified gaps in elective recommendation systems focusing on datasets used and preprocessing methods</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dirty="0">
                          <a:effectLst/>
                          <a:latin typeface="Times New Roman" panose="02020603050405020304" pitchFamily="18" charset="0"/>
                          <a:cs typeface="Times New Roman" panose="02020603050405020304" pitchFamily="18" charset="0"/>
                        </a:rPr>
                        <a:t>Lack of public datasets and clear preprocessing methods in most studies</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873114370"/>
                  </a:ext>
                </a:extLst>
              </a:tr>
              <a:tr h="581505">
                <a:tc>
                  <a:txBody>
                    <a:bodyPr/>
                    <a:lstStyle/>
                    <a:p>
                      <a:pPr>
                        <a:lnSpc>
                          <a:spcPct val="107000"/>
                        </a:lnSpc>
                        <a:spcAft>
                          <a:spcPts val="800"/>
                        </a:spcAft>
                      </a:pPr>
                      <a:r>
                        <a:rPr lang="en-US" sz="1000" kern="100">
                          <a:effectLst/>
                          <a:latin typeface="Times New Roman" panose="02020603050405020304" pitchFamily="18" charset="0"/>
                          <a:cs typeface="Times New Roman" panose="02020603050405020304" pitchFamily="18" charset="0"/>
                        </a:rPr>
                        <a:t>2.</a:t>
                      </a:r>
                      <a:r>
                        <a:rPr lang="en-IN" sz="1000" kern="100">
                          <a:effectLst/>
                          <a:latin typeface="Times New Roman" panose="02020603050405020304" pitchFamily="18" charset="0"/>
                          <a:cs typeface="Times New Roman" panose="02020603050405020304" pitchFamily="18" charset="0"/>
                        </a:rPr>
                        <a:t> </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dirty="0">
                          <a:effectLst/>
                          <a:latin typeface="Times New Roman" panose="02020603050405020304" pitchFamily="18" charset="0"/>
                          <a:cs typeface="Times New Roman" panose="02020603050405020304" pitchFamily="18" charset="0"/>
                        </a:rPr>
                        <a:t>A Review of Recommender Systems for Choosing Elective Courses</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Mfowabo Maphosa et al.</a:t>
                      </a:r>
                    </a:p>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(2020)</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Content-based and hybrid recommendation systems</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Systematic literature review revealing a focus on academic choice, particularly elective courses</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 Ambiguity in emerging data mining trends and limitations in scalability</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796278421"/>
                  </a:ext>
                </a:extLst>
              </a:tr>
              <a:tr h="485588">
                <a:tc>
                  <a:txBody>
                    <a:bodyPr/>
                    <a:lstStyle/>
                    <a:p>
                      <a:pPr>
                        <a:lnSpc>
                          <a:spcPct val="107000"/>
                        </a:lnSpc>
                        <a:spcAft>
                          <a:spcPts val="800"/>
                        </a:spcAft>
                      </a:pPr>
                      <a:r>
                        <a:rPr lang="en-US" sz="1000" kern="100">
                          <a:effectLst/>
                          <a:latin typeface="Times New Roman" panose="02020603050405020304" pitchFamily="18" charset="0"/>
                          <a:cs typeface="Times New Roman" panose="02020603050405020304" pitchFamily="18" charset="0"/>
                        </a:rPr>
                        <a:t>3.</a:t>
                      </a:r>
                      <a:r>
                        <a:rPr lang="en-IN" sz="1000" kern="100">
                          <a:effectLst/>
                          <a:latin typeface="Times New Roman" panose="02020603050405020304" pitchFamily="18" charset="0"/>
                          <a:cs typeface="Times New Roman" panose="02020603050405020304" pitchFamily="18" charset="0"/>
                        </a:rPr>
                        <a:t> </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dirty="0">
                          <a:effectLst/>
                          <a:latin typeface="Times New Roman" panose="02020603050405020304" pitchFamily="18" charset="0"/>
                          <a:cs typeface="Times New Roman" panose="02020603050405020304" pitchFamily="18" charset="0"/>
                        </a:rPr>
                        <a:t>Collaborative Filtering Approaches for Elective Course Recommendations</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Cai et al.</a:t>
                      </a:r>
                    </a:p>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(2022)</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Memory-based and model-based collaborative filtering</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Found collaborative filtering methods effectively predict student course preferences</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 Overreliance on historical data limits adaptability</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987206828"/>
                  </a:ext>
                </a:extLst>
              </a:tr>
              <a:tr h="567120">
                <a:tc>
                  <a:txBody>
                    <a:bodyPr/>
                    <a:lstStyle/>
                    <a:p>
                      <a:pPr>
                        <a:lnSpc>
                          <a:spcPct val="107000"/>
                        </a:lnSpc>
                        <a:spcAft>
                          <a:spcPts val="800"/>
                        </a:spcAft>
                      </a:pPr>
                      <a:r>
                        <a:rPr lang="en-US" sz="1000" kern="100">
                          <a:effectLst/>
                          <a:latin typeface="Times New Roman" panose="02020603050405020304" pitchFamily="18" charset="0"/>
                          <a:cs typeface="Times New Roman" panose="02020603050405020304" pitchFamily="18" charset="0"/>
                        </a:rPr>
                        <a:t>4.</a:t>
                      </a:r>
                      <a:r>
                        <a:rPr lang="en-IN" sz="1000" kern="100">
                          <a:effectLst/>
                          <a:latin typeface="Times New Roman" panose="02020603050405020304" pitchFamily="18" charset="0"/>
                          <a:cs typeface="Times New Roman" panose="02020603050405020304" pitchFamily="18" charset="0"/>
                        </a:rPr>
                        <a:t> </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Hybrid Recommender Systems in Education: An Approach for Elective Courses</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 Choe et al.</a:t>
                      </a:r>
                    </a:p>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(2021)</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Hybrid filtering combining collaborative and content-based approaches</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Hybrid systems increase recommendation accuracy compared to traditional methods</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Increased computational complexity</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407848206"/>
                  </a:ext>
                </a:extLst>
              </a:tr>
              <a:tr h="485588">
                <a:tc>
                  <a:txBody>
                    <a:bodyPr/>
                    <a:lstStyle/>
                    <a:p>
                      <a:pPr>
                        <a:lnSpc>
                          <a:spcPct val="107000"/>
                        </a:lnSpc>
                        <a:spcAft>
                          <a:spcPts val="800"/>
                        </a:spcAft>
                      </a:pPr>
                      <a:r>
                        <a:rPr lang="en-US" sz="1000" kern="100">
                          <a:effectLst/>
                          <a:latin typeface="Times New Roman" panose="02020603050405020304" pitchFamily="18" charset="0"/>
                          <a:cs typeface="Times New Roman" panose="02020603050405020304" pitchFamily="18" charset="0"/>
                        </a:rPr>
                        <a:t>5.</a:t>
                      </a:r>
                      <a:r>
                        <a:rPr lang="en-IN" sz="1000" kern="100">
                          <a:effectLst/>
                          <a:latin typeface="Times New Roman" panose="02020603050405020304" pitchFamily="18" charset="0"/>
                          <a:cs typeface="Times New Roman" panose="02020603050405020304" pitchFamily="18" charset="0"/>
                        </a:rPr>
                        <a:t> </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AI-Driven Elective Recommendation Systems Using Deep Learning</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 Tahiru et al.</a:t>
                      </a:r>
                    </a:p>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(2021)</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AI, deep learning</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Deep neural networks capture subtle patterns in student data for more precise recommendations</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Requires large datasets and computational resources</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2359222835"/>
                  </a:ext>
                </a:extLst>
              </a:tr>
              <a:tr h="485588">
                <a:tc>
                  <a:txBody>
                    <a:bodyPr/>
                    <a:lstStyle/>
                    <a:p>
                      <a:pPr>
                        <a:lnSpc>
                          <a:spcPct val="107000"/>
                        </a:lnSpc>
                        <a:spcAft>
                          <a:spcPts val="800"/>
                        </a:spcAft>
                      </a:pPr>
                      <a:r>
                        <a:rPr lang="en-US" sz="1000" kern="100">
                          <a:effectLst/>
                          <a:latin typeface="Times New Roman" panose="02020603050405020304" pitchFamily="18" charset="0"/>
                          <a:cs typeface="Times New Roman" panose="02020603050405020304" pitchFamily="18" charset="0"/>
                        </a:rPr>
                        <a:t>6.</a:t>
                      </a:r>
                      <a:r>
                        <a:rPr lang="en-IN" sz="1000" kern="100">
                          <a:effectLst/>
                          <a:latin typeface="Times New Roman" panose="02020603050405020304" pitchFamily="18" charset="0"/>
                          <a:cs typeface="Times New Roman" panose="02020603050405020304" pitchFamily="18" charset="0"/>
                        </a:rPr>
                        <a:t> </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Contextual Filtering for Elective Course Selection</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Mohamed et al.</a:t>
                      </a:r>
                    </a:p>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(2020)</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Contextual filtering, AI</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Context-aware systems improve the personalization of elective recommendations</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Limited generalizability to diverse educational settings</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947846981"/>
                  </a:ext>
                </a:extLst>
              </a:tr>
              <a:tr h="485588">
                <a:tc>
                  <a:txBody>
                    <a:bodyPr/>
                    <a:lstStyle/>
                    <a:p>
                      <a:pPr>
                        <a:lnSpc>
                          <a:spcPct val="107000"/>
                        </a:lnSpc>
                        <a:spcAft>
                          <a:spcPts val="800"/>
                        </a:spcAft>
                      </a:pPr>
                      <a:r>
                        <a:rPr lang="en-US" sz="1000" kern="100">
                          <a:effectLst/>
                          <a:latin typeface="Times New Roman" panose="02020603050405020304" pitchFamily="18" charset="0"/>
                          <a:cs typeface="Times New Roman" panose="02020603050405020304" pitchFamily="18" charset="0"/>
                        </a:rPr>
                        <a:t>7.</a:t>
                      </a:r>
                      <a:r>
                        <a:rPr lang="en-IN" sz="1000" kern="100">
                          <a:effectLst/>
                          <a:latin typeface="Times New Roman" panose="02020603050405020304" pitchFamily="18" charset="0"/>
                          <a:cs typeface="Times New Roman" panose="02020603050405020304" pitchFamily="18" charset="0"/>
                        </a:rPr>
                        <a:t> </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Demographic Filtering in Elective Recommender Systems</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Palomares &amp; Porcel</a:t>
                      </a:r>
                    </a:p>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(2020)</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Demographic filtering, data mining</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Explored demographic factors to personalize recommendations for students</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Suffers from biases in demographic data</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490717635"/>
                  </a:ext>
                </a:extLst>
              </a:tr>
              <a:tr h="417963">
                <a:tc>
                  <a:txBody>
                    <a:bodyPr/>
                    <a:lstStyle/>
                    <a:p>
                      <a:pPr>
                        <a:lnSpc>
                          <a:spcPct val="107000"/>
                        </a:lnSpc>
                        <a:spcAft>
                          <a:spcPts val="800"/>
                        </a:spcAft>
                      </a:pPr>
                      <a:r>
                        <a:rPr lang="en-US" sz="1000" kern="100">
                          <a:effectLst/>
                          <a:latin typeface="Times New Roman" panose="02020603050405020304" pitchFamily="18" charset="0"/>
                          <a:cs typeface="Times New Roman" panose="02020603050405020304" pitchFamily="18" charset="0"/>
                        </a:rPr>
                        <a:t>8.</a:t>
                      </a:r>
                      <a:r>
                        <a:rPr lang="en-IN" sz="1000" kern="100">
                          <a:effectLst/>
                          <a:latin typeface="Times New Roman" panose="02020603050405020304" pitchFamily="18" charset="0"/>
                          <a:cs typeface="Times New Roman" panose="02020603050405020304" pitchFamily="18" charset="0"/>
                        </a:rPr>
                        <a:t> </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Elective Recommender Systems Using Popularity-Based Algorithms</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Mohamed et al.</a:t>
                      </a:r>
                    </a:p>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(2019)</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Popularity-based filtering</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Popularity-based methods provide basic yet effective recommendations</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Lack of personalization and adaptability to individual preferences</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495489995"/>
                  </a:ext>
                </a:extLst>
              </a:tr>
              <a:tr h="479609">
                <a:tc>
                  <a:txBody>
                    <a:bodyPr/>
                    <a:lstStyle/>
                    <a:p>
                      <a:pPr>
                        <a:lnSpc>
                          <a:spcPct val="107000"/>
                        </a:lnSpc>
                        <a:spcAft>
                          <a:spcPts val="800"/>
                        </a:spcAft>
                      </a:pPr>
                      <a:r>
                        <a:rPr lang="en-US" sz="1000" kern="100">
                          <a:effectLst/>
                          <a:latin typeface="Times New Roman" panose="02020603050405020304" pitchFamily="18" charset="0"/>
                          <a:cs typeface="Times New Roman" panose="02020603050405020304" pitchFamily="18" charset="0"/>
                        </a:rPr>
                        <a:t>9.</a:t>
                      </a:r>
                      <a:r>
                        <a:rPr lang="en-IN" sz="1000" kern="100">
                          <a:effectLst/>
                          <a:latin typeface="Times New Roman" panose="02020603050405020304" pitchFamily="18" charset="0"/>
                          <a:cs typeface="Times New Roman" panose="02020603050405020304" pitchFamily="18" charset="0"/>
                        </a:rPr>
                        <a:t> </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Heuristic-Based Elective Recommendation Systems</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Pesovski et al.</a:t>
                      </a:r>
                    </a:p>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(2020)</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Heuristic filtering, cosine similarity</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Heuristic methods, such as cosine similarity, were effective for small datasets</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Limited scalability</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2801681585"/>
                  </a:ext>
                </a:extLst>
              </a:tr>
              <a:tr h="581505">
                <a:tc>
                  <a:txBody>
                    <a:bodyPr/>
                    <a:lstStyle/>
                    <a:p>
                      <a:pPr>
                        <a:lnSpc>
                          <a:spcPct val="107000"/>
                        </a:lnSpc>
                        <a:spcAft>
                          <a:spcPts val="800"/>
                        </a:spcAft>
                      </a:pPr>
                      <a:r>
                        <a:rPr lang="en-US" sz="1000" kern="100">
                          <a:effectLst/>
                          <a:latin typeface="Times New Roman" panose="02020603050405020304" pitchFamily="18" charset="0"/>
                          <a:cs typeface="Times New Roman" panose="02020603050405020304" pitchFamily="18" charset="0"/>
                        </a:rPr>
                        <a:t>10.</a:t>
                      </a:r>
                      <a:r>
                        <a:rPr lang="en-IN" sz="1000" kern="100">
                          <a:effectLst/>
                          <a:latin typeface="Times New Roman" panose="02020603050405020304" pitchFamily="18" charset="0"/>
                          <a:cs typeface="Times New Roman" panose="02020603050405020304" pitchFamily="18" charset="0"/>
                        </a:rPr>
                        <a:t> </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Machine Learning in Elective Recommender Systems</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Assavakamhaenghan et al.</a:t>
                      </a:r>
                    </a:p>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(2022)</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Supervised learning, regression models</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a:effectLst/>
                          <a:latin typeface="Times New Roman" panose="02020603050405020304" pitchFamily="18" charset="0"/>
                          <a:cs typeface="Times New Roman" panose="02020603050405020304" pitchFamily="18" charset="0"/>
                        </a:rPr>
                        <a:t>Machine learning enhances the predictive power of elective recommendation systems</a:t>
                      </a:r>
                      <a:endParaRPr lang="en-IN" sz="1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1000" kern="100" dirty="0">
                          <a:effectLst/>
                          <a:latin typeface="Times New Roman" panose="02020603050405020304" pitchFamily="18" charset="0"/>
                          <a:cs typeface="Times New Roman" panose="02020603050405020304" pitchFamily="18" charset="0"/>
                        </a:rPr>
                        <a:t>Model overfitting in smaller datasets</a:t>
                      </a:r>
                      <a:endParaRPr lang="en-IN" sz="1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2766426265"/>
                  </a:ext>
                </a:extLst>
              </a:tr>
            </a:tbl>
          </a:graphicData>
        </a:graphic>
      </p:graphicFrame>
    </p:spTree>
    <p:extLst>
      <p:ext uri="{BB962C8B-B14F-4D97-AF65-F5344CB8AC3E}">
        <p14:creationId xmlns:p14="http://schemas.microsoft.com/office/powerpoint/2010/main" val="3767711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Objectives</a:t>
            </a:r>
          </a:p>
        </p:txBody>
      </p:sp>
      <p:sp>
        <p:nvSpPr>
          <p:cNvPr id="3" name="Content Placeholder 2"/>
          <p:cNvSpPr>
            <a:spLocks noGrp="1"/>
          </p:cNvSpPr>
          <p:nvPr>
            <p:ph idx="1"/>
          </p:nvPr>
        </p:nvSpPr>
        <p:spPr>
          <a:xfrm>
            <a:off x="660400" y="1155701"/>
            <a:ext cx="10668000" cy="4952997"/>
          </a:xfrm>
        </p:spPr>
        <p:txBody>
          <a:bodyPr>
            <a:normAutofit/>
          </a:bodyPr>
          <a:lstStyle/>
          <a:p>
            <a:pPr algn="just"/>
            <a:r>
              <a:rPr lang="en-US" sz="1600" dirty="0">
                <a:latin typeface="Times New Roman" panose="02020603050405020304" pitchFamily="18" charset="0"/>
                <a:cs typeface="Times New Roman" panose="02020603050405020304" pitchFamily="18" charset="0"/>
              </a:rPr>
              <a:t>Build a standardized data preprocessing pipeline using open-source tools such as </a:t>
            </a:r>
            <a:r>
              <a:rPr lang="en-US" sz="1600" b="1" dirty="0">
                <a:latin typeface="Times New Roman" panose="02020603050405020304" pitchFamily="18" charset="0"/>
                <a:cs typeface="Times New Roman" panose="02020603050405020304" pitchFamily="18" charset="0"/>
              </a:rPr>
              <a:t>Pandas</a:t>
            </a:r>
            <a:r>
              <a:rPr lang="en-US" sz="1600" dirty="0">
                <a:latin typeface="Times New Roman" panose="02020603050405020304" pitchFamily="18" charset="0"/>
                <a:cs typeface="Times New Roman" panose="02020603050405020304" pitchFamily="18" charset="0"/>
              </a:rPr>
              <a:t> and </a:t>
            </a:r>
            <a:r>
              <a:rPr lang="en-US" sz="1600" b="1" dirty="0">
                <a:latin typeface="Times New Roman" panose="02020603050405020304" pitchFamily="18" charset="0"/>
                <a:cs typeface="Times New Roman" panose="02020603050405020304" pitchFamily="18" charset="0"/>
              </a:rPr>
              <a:t>Scikit-learn</a:t>
            </a:r>
            <a:r>
              <a:rPr lang="en-US" sz="1600" dirty="0">
                <a:latin typeface="Times New Roman" panose="02020603050405020304" pitchFamily="18" charset="0"/>
                <a:cs typeface="Times New Roman" panose="02020603050405020304" pitchFamily="18" charset="0"/>
              </a:rPr>
              <a:t>. Employ cloud-based infrastructure (e.g., AWS, Google Cloud) to store and process large datasets.</a:t>
            </a:r>
          </a:p>
          <a:p>
            <a:pPr algn="just"/>
            <a:r>
              <a:rPr lang="en-US" sz="1600" dirty="0">
                <a:latin typeface="Times New Roman" panose="02020603050405020304" pitchFamily="18" charset="0"/>
                <a:cs typeface="Times New Roman" panose="02020603050405020304" pitchFamily="18" charset="0"/>
              </a:rPr>
              <a:t>Implement a GNN-based hybrid recommender system that incorporates collaborative filtering and content-based filtering into a single architecture. Use tools like </a:t>
            </a:r>
            <a:r>
              <a:rPr lang="en-US" sz="1600" b="1" dirty="0">
                <a:latin typeface="Times New Roman" panose="02020603050405020304" pitchFamily="18" charset="0"/>
                <a:cs typeface="Times New Roman" panose="02020603050405020304" pitchFamily="18" charset="0"/>
              </a:rPr>
              <a:t>PyTorch Geometric</a:t>
            </a:r>
            <a:r>
              <a:rPr lang="en-US" sz="1600" dirty="0">
                <a:latin typeface="Times New Roman" panose="02020603050405020304" pitchFamily="18" charset="0"/>
                <a:cs typeface="Times New Roman" panose="02020603050405020304" pitchFamily="18" charset="0"/>
              </a:rPr>
              <a:t> to handle large-scale graph-based models efficiently.</a:t>
            </a:r>
          </a:p>
          <a:p>
            <a:pPr algn="just"/>
            <a:r>
              <a:rPr lang="en-US" sz="1600" dirty="0">
                <a:latin typeface="Times New Roman" panose="02020603050405020304" pitchFamily="18" charset="0"/>
                <a:cs typeface="Times New Roman" panose="02020603050405020304" pitchFamily="18" charset="0"/>
              </a:rPr>
              <a:t>Pre-train models using publicly available educational data (e.g., Coursera, edX) and fine-tune them on elective course data from specific universities. Use </a:t>
            </a:r>
            <a:r>
              <a:rPr lang="en-US" sz="1600" b="1" dirty="0">
                <a:latin typeface="Times New Roman" panose="02020603050405020304" pitchFamily="18" charset="0"/>
                <a:cs typeface="Times New Roman" panose="02020603050405020304" pitchFamily="18" charset="0"/>
              </a:rPr>
              <a:t>TensorFlow</a:t>
            </a:r>
            <a:r>
              <a:rPr lang="en-US" sz="1600" dirty="0">
                <a:latin typeface="Times New Roman" panose="02020603050405020304" pitchFamily="18" charset="0"/>
                <a:cs typeface="Times New Roman" panose="02020603050405020304" pitchFamily="18" charset="0"/>
              </a:rPr>
              <a:t> and </a:t>
            </a:r>
            <a:r>
              <a:rPr lang="en-US" sz="1600" b="1" dirty="0">
                <a:latin typeface="Times New Roman" panose="02020603050405020304" pitchFamily="18" charset="0"/>
                <a:cs typeface="Times New Roman" panose="02020603050405020304" pitchFamily="18" charset="0"/>
              </a:rPr>
              <a:t>Hugging Face Transformers</a:t>
            </a:r>
            <a:r>
              <a:rPr lang="en-US" sz="1600" dirty="0">
                <a:latin typeface="Times New Roman" panose="02020603050405020304" pitchFamily="18" charset="0"/>
                <a:cs typeface="Times New Roman" panose="02020603050405020304" pitchFamily="18" charset="0"/>
              </a:rPr>
              <a:t> for implementation.</a:t>
            </a:r>
          </a:p>
          <a:p>
            <a:pPr algn="just"/>
            <a:r>
              <a:rPr lang="en-US" sz="1600" dirty="0">
                <a:latin typeface="Times New Roman" panose="02020603050405020304" pitchFamily="18" charset="0"/>
                <a:cs typeface="Times New Roman" panose="02020603050405020304" pitchFamily="18" charset="0"/>
              </a:rPr>
              <a:t>Regularly audit the system using fairness metrics like </a:t>
            </a:r>
            <a:r>
              <a:rPr lang="en-US" sz="1600" b="1" dirty="0">
                <a:latin typeface="Times New Roman" panose="02020603050405020304" pitchFamily="18" charset="0"/>
                <a:cs typeface="Times New Roman" panose="02020603050405020304" pitchFamily="18" charset="0"/>
              </a:rPr>
              <a:t>Equal Opportunity</a:t>
            </a:r>
            <a:r>
              <a:rPr lang="en-US" sz="1600" dirty="0">
                <a:latin typeface="Times New Roman" panose="02020603050405020304" pitchFamily="18" charset="0"/>
                <a:cs typeface="Times New Roman" panose="02020603050405020304" pitchFamily="18" charset="0"/>
              </a:rPr>
              <a:t> and </a:t>
            </a:r>
            <a:r>
              <a:rPr lang="en-US" sz="1600" b="1" dirty="0">
                <a:latin typeface="Times New Roman" panose="02020603050405020304" pitchFamily="18" charset="0"/>
                <a:cs typeface="Times New Roman" panose="02020603050405020304" pitchFamily="18" charset="0"/>
              </a:rPr>
              <a:t>Demographic Parity</a:t>
            </a:r>
            <a:r>
              <a:rPr lang="en-US" sz="1600" dirty="0">
                <a:latin typeface="Times New Roman" panose="02020603050405020304" pitchFamily="18" charset="0"/>
                <a:cs typeface="Times New Roman" panose="02020603050405020304" pitchFamily="18" charset="0"/>
              </a:rPr>
              <a:t>. Develop adversarial models using </a:t>
            </a:r>
            <a:r>
              <a:rPr lang="en-US" sz="1600" b="1" dirty="0">
                <a:latin typeface="Times New Roman" panose="02020603050405020304" pitchFamily="18" charset="0"/>
                <a:cs typeface="Times New Roman" panose="02020603050405020304" pitchFamily="18" charset="0"/>
              </a:rPr>
              <a:t>Keras</a:t>
            </a:r>
            <a:r>
              <a:rPr lang="en-US" sz="1600" dirty="0">
                <a:latin typeface="Times New Roman" panose="02020603050405020304" pitchFamily="18" charset="0"/>
                <a:cs typeface="Times New Roman" panose="02020603050405020304" pitchFamily="18" charset="0"/>
              </a:rPr>
              <a:t> and </a:t>
            </a:r>
            <a:r>
              <a:rPr lang="en-US" sz="1600" b="1" dirty="0">
                <a:latin typeface="Times New Roman" panose="02020603050405020304" pitchFamily="18" charset="0"/>
                <a:cs typeface="Times New Roman" panose="02020603050405020304" pitchFamily="18" charset="0"/>
              </a:rPr>
              <a:t>TensorFlow</a:t>
            </a:r>
            <a:r>
              <a:rPr lang="en-US" sz="1600" dirty="0">
                <a:latin typeface="Times New Roman" panose="02020603050405020304" pitchFamily="18" charset="0"/>
                <a:cs typeface="Times New Roman" panose="02020603050405020304" pitchFamily="18" charset="0"/>
              </a:rPr>
              <a:t> to reduce the impact of bias in the recommendation process.</a:t>
            </a:r>
          </a:p>
          <a:p>
            <a:pPr algn="just"/>
            <a:r>
              <a:rPr lang="en-US" sz="1600" dirty="0">
                <a:latin typeface="Times New Roman" panose="02020603050405020304" pitchFamily="18" charset="0"/>
                <a:cs typeface="Times New Roman" panose="02020603050405020304" pitchFamily="18" charset="0"/>
              </a:rPr>
              <a:t>Implement NCF using </a:t>
            </a:r>
            <a:r>
              <a:rPr lang="en-US" sz="1600" b="1" dirty="0">
                <a:latin typeface="Times New Roman" panose="02020603050405020304" pitchFamily="18" charset="0"/>
                <a:cs typeface="Times New Roman" panose="02020603050405020304" pitchFamily="18" charset="0"/>
              </a:rPr>
              <a:t>PyTorch</a:t>
            </a:r>
            <a:r>
              <a:rPr lang="en-US" sz="1600" dirty="0">
                <a:latin typeface="Times New Roman" panose="02020603050405020304" pitchFamily="18" charset="0"/>
                <a:cs typeface="Times New Roman" panose="02020603050405020304" pitchFamily="18" charset="0"/>
              </a:rPr>
              <a:t> or </a:t>
            </a:r>
            <a:r>
              <a:rPr lang="en-US" sz="1600" b="1" dirty="0">
                <a:latin typeface="Times New Roman" panose="02020603050405020304" pitchFamily="18" charset="0"/>
                <a:cs typeface="Times New Roman" panose="02020603050405020304" pitchFamily="18" charset="0"/>
              </a:rPr>
              <a:t>TensorFlow</a:t>
            </a:r>
            <a:r>
              <a:rPr lang="en-US" sz="1600" dirty="0">
                <a:latin typeface="Times New Roman" panose="02020603050405020304" pitchFamily="18" charset="0"/>
                <a:cs typeface="Times New Roman" panose="02020603050405020304" pitchFamily="18" charset="0"/>
              </a:rPr>
              <a:t>. NCF leverages deep learning to model latent relationships in large-scale datasets and can handle scalability issues better than simple heuristic-based models.</a:t>
            </a:r>
          </a:p>
          <a:p>
            <a:pPr algn="just"/>
            <a:r>
              <a:rPr lang="en-IN" sz="1600" dirty="0">
                <a:latin typeface="Times New Roman" panose="02020603050405020304" pitchFamily="18" charset="0"/>
                <a:cs typeface="Times New Roman" panose="02020603050405020304" pitchFamily="18" charset="0"/>
              </a:rPr>
              <a:t>Apply these techniques in deep learning frameworks (e.g., </a:t>
            </a:r>
            <a:r>
              <a:rPr lang="en-IN" sz="1600" b="1" dirty="0">
                <a:latin typeface="Times New Roman" panose="02020603050405020304" pitchFamily="18" charset="0"/>
                <a:cs typeface="Times New Roman" panose="02020603050405020304" pitchFamily="18" charset="0"/>
              </a:rPr>
              <a:t>TensorFlow</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Keras</a:t>
            </a:r>
            <a:r>
              <a:rPr lang="en-IN" sz="1600" dirty="0">
                <a:latin typeface="Times New Roman" panose="02020603050405020304" pitchFamily="18" charset="0"/>
                <a:cs typeface="Times New Roman" panose="02020603050405020304" pitchFamily="18" charset="0"/>
              </a:rPr>
              <a:t>) and fine-tune hyperparameters using techniques like </a:t>
            </a:r>
            <a:r>
              <a:rPr lang="en-IN" sz="1600" b="1" dirty="0">
                <a:latin typeface="Times New Roman" panose="02020603050405020304" pitchFamily="18" charset="0"/>
                <a:cs typeface="Times New Roman" panose="02020603050405020304" pitchFamily="18" charset="0"/>
              </a:rPr>
              <a:t>Bayesian Optimization</a:t>
            </a:r>
            <a:r>
              <a:rPr lang="en-IN" sz="1600" dirty="0">
                <a:latin typeface="Times New Roman" panose="02020603050405020304" pitchFamily="18" charset="0"/>
                <a:cs typeface="Times New Roman" panose="02020603050405020304" pitchFamily="18" charset="0"/>
              </a:rPr>
              <a:t> to avoid overfitting in small datasets</a:t>
            </a:r>
            <a:r>
              <a:rPr lang="en-IN" sz="1400" dirty="0"/>
              <a:t>.</a:t>
            </a:r>
            <a:endParaRPr lang="en-GB"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6729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Methodology/Modules</a:t>
            </a:r>
          </a:p>
        </p:txBody>
      </p:sp>
      <p:sp>
        <p:nvSpPr>
          <p:cNvPr id="5" name="Content Placeholder 4">
            <a:extLst>
              <a:ext uri="{FF2B5EF4-FFF2-40B4-BE49-F238E27FC236}">
                <a16:creationId xmlns:a16="http://schemas.microsoft.com/office/drawing/2014/main" id="{124D548C-EBAF-B503-A5D5-02E130F00989}"/>
              </a:ext>
            </a:extLst>
          </p:cNvPr>
          <p:cNvSpPr>
            <a:spLocks noGrp="1"/>
          </p:cNvSpPr>
          <p:nvPr>
            <p:ph idx="1"/>
          </p:nvPr>
        </p:nvSpPr>
        <p:spPr>
          <a:xfrm>
            <a:off x="762000" y="1151468"/>
            <a:ext cx="10668000" cy="4952997"/>
          </a:xfrm>
        </p:spPr>
        <p:txBody>
          <a:bodyPr>
            <a:normAutofit lnSpcReduction="10000"/>
          </a:bodyPr>
          <a:lstStyle/>
          <a:p>
            <a:r>
              <a:rPr lang="en-US" sz="1600" dirty="0">
                <a:effectLst/>
                <a:latin typeface="Times New Roman" panose="02020603050405020304" pitchFamily="18" charset="0"/>
                <a:ea typeface="Times New Roman" panose="02020603050405020304" pitchFamily="18" charset="0"/>
              </a:rPr>
              <a:t>Environment Setup:</a:t>
            </a:r>
            <a:endParaRPr lang="en-IN" sz="1600" dirty="0">
              <a:effectLst/>
              <a:latin typeface="Times New Roman" panose="02020603050405020304" pitchFamily="18" charset="0"/>
              <a:ea typeface="Times New Roman" panose="02020603050405020304" pitchFamily="18" charset="0"/>
            </a:endParaRPr>
          </a:p>
          <a:p>
            <a:pPr marL="0" indent="0" algn="just">
              <a:buNone/>
            </a:pPr>
            <a:r>
              <a:rPr lang="en-US" sz="1600" dirty="0">
                <a:effectLst/>
                <a:latin typeface="Times New Roman" panose="02020603050405020304" pitchFamily="18" charset="0"/>
                <a:ea typeface="Times New Roman" panose="02020603050405020304" pitchFamily="18" charset="0"/>
              </a:rPr>
              <a:t>The development of the Elective Recommendation System begins with the setup of the environment. This involves installing Python, ensuring that the version is 3.6 or later. Additionally, necessary libraries, particularly Gradio, are installed using the package manager pip. Gradio is essential for creating an interactive user interface that allows users to input their preferences easily.</a:t>
            </a:r>
          </a:p>
          <a:p>
            <a:r>
              <a:rPr lang="en-US" sz="1600" dirty="0">
                <a:effectLst/>
                <a:latin typeface="Times New Roman" panose="02020603050405020304" pitchFamily="18" charset="0"/>
                <a:ea typeface="Times New Roman" panose="02020603050405020304" pitchFamily="18" charset="0"/>
              </a:rPr>
              <a:t>Data Structure:</a:t>
            </a:r>
            <a:endParaRPr lang="en-IN" sz="1600" dirty="0">
              <a:effectLst/>
              <a:latin typeface="Times New Roman" panose="02020603050405020304" pitchFamily="18" charset="0"/>
              <a:ea typeface="Times New Roman" panose="02020603050405020304" pitchFamily="18" charset="0"/>
            </a:endParaRPr>
          </a:p>
          <a:p>
            <a:pPr marL="0" indent="0" algn="just">
              <a:buNone/>
            </a:pPr>
            <a:r>
              <a:rPr lang="en-US" sz="1600" dirty="0">
                <a:effectLst/>
                <a:latin typeface="Times New Roman" panose="02020603050405020304" pitchFamily="18" charset="0"/>
                <a:ea typeface="Times New Roman" panose="02020603050405020304" pitchFamily="18" charset="0"/>
              </a:rPr>
              <a:t>Once the environment is established, the next step is to define the data structure that will hold the course information. A list of courses is created, where each course is represented as a dictionary containing attributes such as ID, name, and associated tags.</a:t>
            </a:r>
            <a:r>
              <a:rPr lang="en-US" sz="1600" b="1"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This structured format enables efficient data handling and retrieval during the recommendation process.</a:t>
            </a:r>
          </a:p>
          <a:p>
            <a:r>
              <a:rPr lang="en-US" sz="1600" dirty="0">
                <a:effectLst/>
                <a:latin typeface="Times New Roman" panose="02020603050405020304" pitchFamily="18" charset="0"/>
                <a:ea typeface="Times New Roman" panose="02020603050405020304" pitchFamily="18" charset="0"/>
              </a:rPr>
              <a:t>Recommendation Logic:</a:t>
            </a:r>
            <a:endParaRPr lang="en-IN" sz="1600" dirty="0">
              <a:effectLst/>
              <a:latin typeface="Times New Roman" panose="02020603050405020304" pitchFamily="18" charset="0"/>
              <a:ea typeface="Times New Roman" panose="02020603050405020304" pitchFamily="18" charset="0"/>
            </a:endParaRPr>
          </a:p>
          <a:p>
            <a:pPr marL="0" indent="0" algn="just">
              <a:buNone/>
            </a:pPr>
            <a:r>
              <a:rPr lang="en-US" sz="1600" dirty="0">
                <a:effectLst/>
                <a:latin typeface="Times New Roman" panose="02020603050405020304" pitchFamily="18" charset="0"/>
                <a:ea typeface="Times New Roman" panose="02020603050405020304" pitchFamily="18" charset="0"/>
              </a:rPr>
              <a:t>The core functionality of the system lies in the recommendation logic. A function is developed to process user inputs, specifically their interests and completed courses. This function matches the provided interests with the tags associated with each course while filtering out any courses that the user has already completed. This ensures that the recommendations are relevant and tailored to the user's academic journey.</a:t>
            </a:r>
          </a:p>
          <a:p>
            <a:pPr algn="just"/>
            <a:r>
              <a:rPr lang="en-US" sz="1600" dirty="0">
                <a:effectLst/>
                <a:latin typeface="Times New Roman" panose="02020603050405020304" pitchFamily="18" charset="0"/>
                <a:ea typeface="Times New Roman" panose="02020603050405020304" pitchFamily="18" charset="0"/>
              </a:rPr>
              <a:t>User Interface Development:</a:t>
            </a:r>
            <a:endParaRPr lang="en-IN" sz="1600" dirty="0">
              <a:effectLst/>
              <a:latin typeface="Times New Roman" panose="02020603050405020304" pitchFamily="18" charset="0"/>
              <a:ea typeface="Times New Roman" panose="02020603050405020304" pitchFamily="18" charset="0"/>
            </a:endParaRPr>
          </a:p>
          <a:p>
            <a:pPr marL="0" indent="0" algn="just">
              <a:buNone/>
            </a:pPr>
            <a:r>
              <a:rPr lang="en-US" sz="1600" dirty="0">
                <a:effectLst/>
                <a:latin typeface="Times New Roman" panose="02020603050405020304" pitchFamily="18" charset="0"/>
                <a:ea typeface="Times New Roman" panose="02020603050405020304" pitchFamily="18" charset="0"/>
              </a:rPr>
              <a:t>The user interface is built using Gradio, which facilitates an interactive experience for the user. The interface includes textboxes for entering interests and completed courses, along with buttons for submitting the input and viewing all available courses. Output areas are provided to display the recommended courses and the complete list of available options, making the system user-friendly and accessible.</a:t>
            </a:r>
            <a:endParaRPr lang="en-IN" sz="1600" dirty="0">
              <a:effectLst/>
              <a:latin typeface="Times New Roman" panose="02020603050405020304" pitchFamily="18" charset="0"/>
              <a:ea typeface="Times New Roman" panose="02020603050405020304" pitchFamily="18" charset="0"/>
            </a:endParaRPr>
          </a:p>
          <a:p>
            <a:pPr marL="0" indent="0" algn="just">
              <a:buNone/>
            </a:pPr>
            <a:endParaRPr lang="en-IN" sz="1600" dirty="0">
              <a:effectLst/>
              <a:latin typeface="Times New Roman" panose="02020603050405020304" pitchFamily="18" charset="0"/>
              <a:ea typeface="Times New Roman" panose="02020603050405020304" pitchFamily="18" charset="0"/>
            </a:endParaRPr>
          </a:p>
          <a:p>
            <a:pPr marL="0" indent="0">
              <a:buNone/>
            </a:pPr>
            <a:endParaRPr lang="en-IN" sz="1600" dirty="0"/>
          </a:p>
        </p:txBody>
      </p:sp>
    </p:spTree>
    <p:extLst>
      <p:ext uri="{BB962C8B-B14F-4D97-AF65-F5344CB8AC3E}">
        <p14:creationId xmlns:p14="http://schemas.microsoft.com/office/powerpoint/2010/main" val="2314944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EDD70-D7BF-82AC-FB7C-2833E87939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B9291E-CB49-B21F-FFA8-6DDB4D061F5C}"/>
              </a:ext>
            </a:extLst>
          </p:cNvPr>
          <p:cNvSpPr>
            <a:spLocks noGrp="1"/>
          </p:cNvSpPr>
          <p:nvPr>
            <p:ph type="title"/>
          </p:nvPr>
        </p:nvSpPr>
        <p:spPr/>
        <p:txBody>
          <a:bodyPr/>
          <a:lstStyle/>
          <a:p>
            <a:r>
              <a:rPr lang="en-GB" dirty="0"/>
              <a:t>Methodology/Modules</a:t>
            </a:r>
          </a:p>
        </p:txBody>
      </p:sp>
      <p:sp>
        <p:nvSpPr>
          <p:cNvPr id="5" name="Content Placeholder 4">
            <a:extLst>
              <a:ext uri="{FF2B5EF4-FFF2-40B4-BE49-F238E27FC236}">
                <a16:creationId xmlns:a16="http://schemas.microsoft.com/office/drawing/2014/main" id="{7C0EA6E7-FC6E-B9FC-6E05-B23A097A6AA2}"/>
              </a:ext>
            </a:extLst>
          </p:cNvPr>
          <p:cNvSpPr>
            <a:spLocks noGrp="1"/>
          </p:cNvSpPr>
          <p:nvPr>
            <p:ph idx="1"/>
          </p:nvPr>
        </p:nvSpPr>
        <p:spPr>
          <a:xfrm>
            <a:off x="812800" y="1126067"/>
            <a:ext cx="10668000" cy="4952997"/>
          </a:xfrm>
        </p:spPr>
        <p:txBody>
          <a:bodyPr>
            <a:normAutofit/>
          </a:bodyPr>
          <a:lstStyle/>
          <a:p>
            <a:pPr algn="just"/>
            <a:r>
              <a:rPr lang="en-US" sz="1600" dirty="0">
                <a:effectLst/>
                <a:latin typeface="Times New Roman" panose="02020603050405020304" pitchFamily="18" charset="0"/>
                <a:ea typeface="Times New Roman" panose="02020603050405020304" pitchFamily="18" charset="0"/>
              </a:rPr>
              <a:t>Testing:</a:t>
            </a:r>
            <a:endParaRPr lang="en-IN" sz="1600" dirty="0">
              <a:effectLst/>
              <a:latin typeface="Times New Roman" panose="02020603050405020304" pitchFamily="18" charset="0"/>
              <a:ea typeface="Times New Roman" panose="02020603050405020304" pitchFamily="18" charset="0"/>
            </a:endParaRPr>
          </a:p>
          <a:p>
            <a:pPr marL="0" indent="0" algn="just">
              <a:buNone/>
            </a:pPr>
            <a:r>
              <a:rPr lang="en-US" sz="1600" dirty="0">
                <a:effectLst/>
                <a:latin typeface="Times New Roman" panose="02020603050405020304" pitchFamily="18" charset="0"/>
                <a:ea typeface="Times New Roman" panose="02020603050405020304" pitchFamily="18" charset="0"/>
              </a:rPr>
              <a:t>Comprehensive testing is conducted to ensure the system functions as intended. Various input scenarios are explored to validate the accuracy of the recommendations generated. The application is also tested for edge cases, such as when users enter empty or invalid data, ensuring that it handles these situations gracefully and provides appropriate feedback.</a:t>
            </a:r>
          </a:p>
          <a:p>
            <a:pPr algn="just"/>
            <a:r>
              <a:rPr lang="en-US" sz="1600" dirty="0">
                <a:effectLst/>
                <a:latin typeface="Times New Roman" panose="02020603050405020304" pitchFamily="18" charset="0"/>
                <a:ea typeface="Times New Roman" panose="02020603050405020304" pitchFamily="18" charset="0"/>
              </a:rPr>
              <a:t>Deployment:</a:t>
            </a:r>
            <a:endParaRPr lang="en-IN" sz="1600" dirty="0">
              <a:effectLst/>
              <a:latin typeface="Times New Roman" panose="02020603050405020304" pitchFamily="18" charset="0"/>
              <a:ea typeface="Times New Roman" panose="02020603050405020304" pitchFamily="18" charset="0"/>
            </a:endParaRPr>
          </a:p>
          <a:p>
            <a:pPr marL="0" indent="0" algn="just">
              <a:buNone/>
            </a:pPr>
            <a:r>
              <a:rPr lang="en-US" sz="1600" dirty="0">
                <a:effectLst/>
                <a:latin typeface="Times New Roman" panose="02020603050405020304" pitchFamily="18" charset="0"/>
                <a:ea typeface="Times New Roman" panose="02020603050405020304" pitchFamily="18" charset="0"/>
              </a:rPr>
              <a:t>Finally, deployment options are considered for making the application accessible to a wider audience. The application can be hosted on a web platform or cloud service, allowing users to access the Elective Recommendation System from any location. This step enhances the usability of the system and ensures that it can serve a broader student population.</a:t>
            </a:r>
            <a:endParaRPr lang="en-IN" sz="1600" dirty="0">
              <a:effectLst/>
              <a:latin typeface="Times New Roman" panose="02020603050405020304" pitchFamily="18" charset="0"/>
              <a:ea typeface="Times New Roman" panose="02020603050405020304" pitchFamily="18" charset="0"/>
            </a:endParaRPr>
          </a:p>
          <a:p>
            <a:pPr marL="0" indent="0" algn="just">
              <a:buNone/>
            </a:pPr>
            <a:endParaRPr lang="en-IN" sz="1600" dirty="0">
              <a:effectLst/>
              <a:latin typeface="Times New Roman" panose="02020603050405020304" pitchFamily="18" charset="0"/>
              <a:ea typeface="Times New Roman" panose="02020603050405020304" pitchFamily="18" charset="0"/>
            </a:endParaRPr>
          </a:p>
          <a:p>
            <a:endParaRPr lang="en-IN" sz="1600" dirty="0">
              <a:effectLst/>
              <a:latin typeface="Times New Roman" panose="02020603050405020304" pitchFamily="18" charset="0"/>
              <a:ea typeface="Times New Roman" panose="02020603050405020304" pitchFamily="18" charset="0"/>
            </a:endParaRPr>
          </a:p>
          <a:p>
            <a:pPr marL="0" indent="0">
              <a:buNone/>
            </a:pPr>
            <a:endParaRPr lang="en-IN" sz="1600" dirty="0"/>
          </a:p>
        </p:txBody>
      </p:sp>
    </p:spTree>
    <p:extLst>
      <p:ext uri="{BB962C8B-B14F-4D97-AF65-F5344CB8AC3E}">
        <p14:creationId xmlns:p14="http://schemas.microsoft.com/office/powerpoint/2010/main" val="1713675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B97FD-7A7C-F5A7-82F8-E665F49E37A5}"/>
              </a:ext>
            </a:extLst>
          </p:cNvPr>
          <p:cNvSpPr>
            <a:spLocks noGrp="1"/>
          </p:cNvSpPr>
          <p:nvPr>
            <p:ph type="title"/>
          </p:nvPr>
        </p:nvSpPr>
        <p:spPr/>
        <p:txBody>
          <a:bodyPr/>
          <a:lstStyle/>
          <a:p>
            <a:r>
              <a:rPr lang="en-US" dirty="0"/>
              <a:t>Hardware/software components</a:t>
            </a:r>
            <a:endParaRPr lang="en-IN" dirty="0"/>
          </a:p>
        </p:txBody>
      </p:sp>
      <p:sp>
        <p:nvSpPr>
          <p:cNvPr id="3" name="Content Placeholder 2">
            <a:extLst>
              <a:ext uri="{FF2B5EF4-FFF2-40B4-BE49-F238E27FC236}">
                <a16:creationId xmlns:a16="http://schemas.microsoft.com/office/drawing/2014/main" id="{15C84BCC-0DB1-FDE0-3402-D7F5BF535CDB}"/>
              </a:ext>
            </a:extLst>
          </p:cNvPr>
          <p:cNvSpPr>
            <a:spLocks noGrp="1"/>
          </p:cNvSpPr>
          <p:nvPr>
            <p:ph idx="1"/>
          </p:nvPr>
        </p:nvSpPr>
        <p:spPr>
          <a:xfrm>
            <a:off x="812800" y="1143000"/>
            <a:ext cx="10668000" cy="4952997"/>
          </a:xfrm>
        </p:spPr>
        <p:txBody>
          <a:bodyPr/>
          <a:lstStyle/>
          <a:p>
            <a:pPr marL="0" indent="0" algn="just">
              <a:buNone/>
            </a:pPr>
            <a:r>
              <a:rPr lang="en-US" sz="1600" dirty="0">
                <a:effectLst/>
                <a:latin typeface="Times New Roman" panose="02020603050405020304" pitchFamily="18" charset="0"/>
                <a:ea typeface="Times New Roman" panose="02020603050405020304" pitchFamily="18" charset="0"/>
              </a:rPr>
              <a:t>Hardware Requirements:</a:t>
            </a:r>
            <a:endParaRPr lang="en-IN" sz="1600" dirty="0">
              <a:effectLst/>
              <a:latin typeface="Times New Roman" panose="02020603050405020304" pitchFamily="18" charset="0"/>
              <a:ea typeface="Times New Roman" panose="02020603050405020304" pitchFamily="18" charset="0"/>
            </a:endParaRPr>
          </a:p>
          <a:p>
            <a:pPr algn="just"/>
            <a:r>
              <a:rPr lang="en-US" sz="1600" dirty="0">
                <a:effectLst/>
                <a:latin typeface="Times New Roman" panose="02020603050405020304" pitchFamily="18" charset="0"/>
                <a:ea typeface="Times New Roman" panose="02020603050405020304" pitchFamily="18" charset="0"/>
              </a:rPr>
              <a:t>Computer System: A standard computer with the following specifications is sufficient for development:</a:t>
            </a:r>
            <a:endParaRPr lang="en-IN" sz="1600" dirty="0">
              <a:effectLst/>
              <a:latin typeface="Times New Roman" panose="02020603050405020304" pitchFamily="18" charset="0"/>
              <a:ea typeface="Times New Roman" panose="02020603050405020304" pitchFamily="18" charset="0"/>
            </a:endParaRPr>
          </a:p>
          <a:p>
            <a:pPr algn="just"/>
            <a:r>
              <a:rPr lang="en-US" sz="1600" dirty="0">
                <a:effectLst/>
                <a:latin typeface="Times New Roman" panose="02020603050405020304" pitchFamily="18" charset="0"/>
                <a:ea typeface="Times New Roman" panose="02020603050405020304" pitchFamily="18" charset="0"/>
              </a:rPr>
              <a:t>Processor: Intel Core i3 or equivalent</a:t>
            </a:r>
            <a:endParaRPr lang="en-IN" sz="1600" dirty="0">
              <a:effectLst/>
              <a:latin typeface="Times New Roman" panose="02020603050405020304" pitchFamily="18" charset="0"/>
              <a:ea typeface="Times New Roman" panose="02020603050405020304" pitchFamily="18" charset="0"/>
            </a:endParaRPr>
          </a:p>
          <a:p>
            <a:pPr algn="just"/>
            <a:r>
              <a:rPr lang="en-US" sz="1600" dirty="0">
                <a:effectLst/>
                <a:latin typeface="Times New Roman" panose="02020603050405020304" pitchFamily="18" charset="0"/>
                <a:ea typeface="Times New Roman" panose="02020603050405020304" pitchFamily="18" charset="0"/>
              </a:rPr>
              <a:t>RAM: Minimum 8 GB</a:t>
            </a:r>
            <a:endParaRPr lang="en-IN" sz="1600" dirty="0">
              <a:effectLst/>
              <a:latin typeface="Times New Roman" panose="02020603050405020304" pitchFamily="18" charset="0"/>
              <a:ea typeface="Times New Roman" panose="02020603050405020304" pitchFamily="18" charset="0"/>
            </a:endParaRPr>
          </a:p>
          <a:p>
            <a:pPr algn="just"/>
            <a:r>
              <a:rPr lang="en-US" sz="1600" dirty="0">
                <a:effectLst/>
                <a:latin typeface="Times New Roman" panose="02020603050405020304" pitchFamily="18" charset="0"/>
                <a:ea typeface="Times New Roman" panose="02020603050405020304" pitchFamily="18" charset="0"/>
              </a:rPr>
              <a:t>Storage: At least 256 GB SSD for faster performance</a:t>
            </a:r>
            <a:endParaRPr lang="en-IN" sz="1600" dirty="0">
              <a:effectLst/>
              <a:latin typeface="Times New Roman" panose="02020603050405020304" pitchFamily="18" charset="0"/>
              <a:ea typeface="Times New Roman" panose="02020603050405020304" pitchFamily="18" charset="0"/>
            </a:endParaRPr>
          </a:p>
          <a:p>
            <a:pPr algn="just"/>
            <a:r>
              <a:rPr lang="en-US" sz="1600" dirty="0">
                <a:effectLst/>
                <a:latin typeface="Times New Roman" panose="02020603050405020304" pitchFamily="18" charset="0"/>
                <a:ea typeface="Times New Roman" panose="02020603050405020304" pitchFamily="18" charset="0"/>
              </a:rPr>
              <a:t>Operating System: Windows, macOS, or Linux</a:t>
            </a:r>
            <a:endParaRPr lang="en-IN" sz="1600" dirty="0">
              <a:effectLst/>
              <a:latin typeface="Times New Roman" panose="02020603050405020304" pitchFamily="18" charset="0"/>
              <a:ea typeface="Times New Roman" panose="02020603050405020304" pitchFamily="18" charset="0"/>
            </a:endParaRPr>
          </a:p>
          <a:p>
            <a:pPr algn="just"/>
            <a:r>
              <a:rPr lang="en-US" sz="1600" dirty="0">
                <a:effectLst/>
                <a:latin typeface="Times New Roman" panose="02020603050405020304" pitchFamily="18" charset="0"/>
                <a:ea typeface="Times New Roman" panose="02020603050405020304" pitchFamily="18" charset="0"/>
              </a:rPr>
              <a:t>Internet Connection: Required for downloading libraries and hosting the application (if needed)</a:t>
            </a:r>
          </a:p>
          <a:p>
            <a:pPr marL="0" indent="0" algn="just">
              <a:buNone/>
            </a:pPr>
            <a:endParaRPr lang="en-US" sz="1600" dirty="0">
              <a:effectLst/>
              <a:latin typeface="Times New Roman" panose="02020603050405020304" pitchFamily="18" charset="0"/>
              <a:ea typeface="Times New Roman" panose="02020603050405020304" pitchFamily="18" charset="0"/>
            </a:endParaRPr>
          </a:p>
          <a:p>
            <a:pPr marL="0" indent="0" algn="just">
              <a:buNone/>
            </a:pPr>
            <a:r>
              <a:rPr lang="en-US" sz="1600" dirty="0">
                <a:effectLst/>
                <a:latin typeface="Times New Roman" panose="02020603050405020304" pitchFamily="18" charset="0"/>
                <a:ea typeface="Times New Roman" panose="02020603050405020304" pitchFamily="18" charset="0"/>
              </a:rPr>
              <a:t>Software Requirements:</a:t>
            </a:r>
            <a:endParaRPr lang="en-IN" sz="1600" dirty="0">
              <a:effectLst/>
              <a:latin typeface="Times New Roman" panose="02020603050405020304" pitchFamily="18" charset="0"/>
              <a:ea typeface="Times New Roman" panose="02020603050405020304" pitchFamily="18" charset="0"/>
            </a:endParaRPr>
          </a:p>
          <a:p>
            <a:pPr algn="just"/>
            <a:r>
              <a:rPr lang="en-US" sz="1600" dirty="0">
                <a:effectLst/>
                <a:latin typeface="Times New Roman" panose="02020603050405020304" pitchFamily="18" charset="0"/>
                <a:ea typeface="Times New Roman" panose="02020603050405020304" pitchFamily="18" charset="0"/>
              </a:rPr>
              <a:t>Programming Language: </a:t>
            </a:r>
            <a:endParaRPr lang="en-IN" sz="1600" dirty="0">
              <a:effectLst/>
              <a:latin typeface="Times New Roman" panose="02020603050405020304" pitchFamily="18" charset="0"/>
              <a:ea typeface="Times New Roman" panose="02020603050405020304" pitchFamily="18" charset="0"/>
            </a:endParaRPr>
          </a:p>
          <a:p>
            <a:pPr marL="0" indent="0" algn="just">
              <a:buNone/>
            </a:pPr>
            <a:r>
              <a:rPr lang="en-US" sz="1600" dirty="0">
                <a:effectLst/>
                <a:latin typeface="Times New Roman" panose="02020603050405020304" pitchFamily="18" charset="0"/>
                <a:ea typeface="Times New Roman" panose="02020603050405020304" pitchFamily="18" charset="0"/>
              </a:rPr>
              <a:t>- Python: The primary language used for developing the backend logic of the system.</a:t>
            </a:r>
            <a:endParaRPr lang="en-IN" sz="1600" dirty="0">
              <a:effectLst/>
              <a:latin typeface="Times New Roman" panose="02020603050405020304" pitchFamily="18" charset="0"/>
              <a:ea typeface="Times New Roman" panose="02020603050405020304" pitchFamily="18" charset="0"/>
            </a:endParaRPr>
          </a:p>
          <a:p>
            <a:pPr marL="0" indent="0" algn="just">
              <a:buNone/>
            </a:pPr>
            <a:r>
              <a:rPr lang="en-US" sz="1600" dirty="0">
                <a:effectLst/>
                <a:latin typeface="Times New Roman" panose="02020603050405020304" pitchFamily="18" charset="0"/>
                <a:ea typeface="Times New Roman" panose="02020603050405020304" pitchFamily="18" charset="0"/>
              </a:rPr>
              <a:t>- Frameworks and Libraries:</a:t>
            </a:r>
            <a:endParaRPr lang="en-IN" sz="1600" dirty="0">
              <a:effectLst/>
              <a:latin typeface="Times New Roman" panose="02020603050405020304" pitchFamily="18" charset="0"/>
              <a:ea typeface="Times New Roman" panose="02020603050405020304" pitchFamily="18" charset="0"/>
            </a:endParaRPr>
          </a:p>
          <a:p>
            <a:pPr marL="0" indent="0" algn="just">
              <a:buNone/>
            </a:pPr>
            <a:r>
              <a:rPr lang="en-US" sz="1600" dirty="0">
                <a:effectLst/>
                <a:latin typeface="Times New Roman" panose="02020603050405020304" pitchFamily="18" charset="0"/>
                <a:ea typeface="Times New Roman" panose="02020603050405020304" pitchFamily="18" charset="0"/>
              </a:rPr>
              <a:t>- Gradio: A Python library used to create the user interface for the application. Gradio enables the easy   development of interactive web applications without extensive frontend knowledge.</a:t>
            </a:r>
            <a:endParaRPr lang="en-IN" sz="1600" dirty="0">
              <a:effectLst/>
              <a:latin typeface="Times New Roman" panose="02020603050405020304" pitchFamily="18" charset="0"/>
              <a:ea typeface="Times New Roman" panose="02020603050405020304" pitchFamily="18" charset="0"/>
            </a:endParaRPr>
          </a:p>
          <a:p>
            <a:pPr marL="0" indent="0" algn="just">
              <a:buNone/>
            </a:pPr>
            <a:r>
              <a:rPr lang="en-US" sz="1600" dirty="0">
                <a:effectLst/>
                <a:latin typeface="Times New Roman" panose="02020603050405020304" pitchFamily="18" charset="0"/>
                <a:ea typeface="Times New Roman" panose="02020603050405020304" pitchFamily="18" charset="0"/>
              </a:rPr>
              <a:t>- Pandas: For handling data in more complex scenarios, though not explicitly used in the provided code.</a:t>
            </a:r>
            <a:endParaRPr lang="en-IN" sz="1600" dirty="0">
              <a:effectLst/>
              <a:latin typeface="Times New Roman" panose="02020603050405020304" pitchFamily="18" charset="0"/>
              <a:ea typeface="Times New Roman" panose="02020603050405020304" pitchFamily="18" charset="0"/>
            </a:endParaRPr>
          </a:p>
          <a:p>
            <a:pPr algn="just"/>
            <a:endParaRPr lang="en-IN" sz="180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825552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Timeline of Project</a:t>
            </a:r>
          </a:p>
        </p:txBody>
      </p:sp>
      <p:pic>
        <p:nvPicPr>
          <p:cNvPr id="4" name="Content Placeholder 3">
            <a:extLst>
              <a:ext uri="{FF2B5EF4-FFF2-40B4-BE49-F238E27FC236}">
                <a16:creationId xmlns:a16="http://schemas.microsoft.com/office/drawing/2014/main" id="{20EFDB88-3EF1-546D-CB9F-0F1C122BCC03}"/>
              </a:ext>
            </a:extLst>
          </p:cNvPr>
          <p:cNvPicPr>
            <a:picLocks noGrp="1" noChangeAspect="1"/>
          </p:cNvPicPr>
          <p:nvPr>
            <p:ph idx="1"/>
          </p:nvPr>
        </p:nvPicPr>
        <p:blipFill>
          <a:blip r:embed="rId2"/>
          <a:stretch>
            <a:fillRect/>
          </a:stretch>
        </p:blipFill>
        <p:spPr>
          <a:xfrm>
            <a:off x="812800" y="2350050"/>
            <a:ext cx="10668000" cy="2488099"/>
          </a:xfrm>
          <a:prstGeom prst="rect">
            <a:avLst/>
          </a:prstGeom>
        </p:spPr>
      </p:pic>
    </p:spTree>
    <p:extLst>
      <p:ext uri="{BB962C8B-B14F-4D97-AF65-F5344CB8AC3E}">
        <p14:creationId xmlns:p14="http://schemas.microsoft.com/office/powerpoint/2010/main" val="3677332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Expected Outcomes</a:t>
            </a:r>
          </a:p>
        </p:txBody>
      </p:sp>
      <p:sp>
        <p:nvSpPr>
          <p:cNvPr id="3" name="Content Placeholder 2"/>
          <p:cNvSpPr>
            <a:spLocks noGrp="1"/>
          </p:cNvSpPr>
          <p:nvPr>
            <p:ph idx="1"/>
          </p:nvPr>
        </p:nvSpPr>
        <p:spPr>
          <a:xfrm>
            <a:off x="762000" y="1143001"/>
            <a:ext cx="10668000" cy="4952997"/>
          </a:xfrm>
        </p:spPr>
        <p:txBody>
          <a:bodyPr>
            <a:normAutofit lnSpcReduction="10000"/>
          </a:bodyPr>
          <a:lstStyle/>
          <a:p>
            <a:pPr algn="just"/>
            <a:r>
              <a:rPr lang="en-US" sz="1600" b="1" dirty="0">
                <a:latin typeface="Times New Roman" panose="02020603050405020304" pitchFamily="18" charset="0"/>
                <a:cs typeface="Times New Roman" panose="02020603050405020304" pitchFamily="18" charset="0"/>
              </a:rPr>
              <a:t>Personalized Course Recommendations</a:t>
            </a:r>
            <a:r>
              <a:rPr lang="en-US" sz="1600" dirty="0">
                <a:latin typeface="Times New Roman" panose="02020603050405020304" pitchFamily="18" charset="0"/>
                <a:cs typeface="Times New Roman" panose="02020603050405020304" pitchFamily="18" charset="0"/>
              </a:rPr>
              <a:t>:</a:t>
            </a:r>
          </a:p>
          <a:p>
            <a:pPr marL="0" indent="0" algn="just">
              <a:buNone/>
            </a:pPr>
            <a:r>
              <a:rPr lang="en-US" sz="1600" dirty="0">
                <a:latin typeface="Times New Roman" panose="02020603050405020304" pitchFamily="18" charset="0"/>
                <a:cs typeface="Times New Roman" panose="02020603050405020304" pitchFamily="18" charset="0"/>
              </a:rPr>
              <a:t>Students will receive tailored elective suggestions based on their academic history, preferences, and similar student choices, enhancing course selection satisfaction and success rates.</a:t>
            </a:r>
          </a:p>
          <a:p>
            <a:pPr algn="just"/>
            <a:r>
              <a:rPr lang="en-US" sz="1600" b="1" dirty="0">
                <a:latin typeface="Times New Roman" panose="02020603050405020304" pitchFamily="18" charset="0"/>
                <a:cs typeface="Times New Roman" panose="02020603050405020304" pitchFamily="18" charset="0"/>
              </a:rPr>
              <a:t>Improved Course Enrollment Decisions</a:t>
            </a:r>
            <a:r>
              <a:rPr lang="en-US" sz="1600" dirty="0">
                <a:latin typeface="Times New Roman" panose="02020603050405020304" pitchFamily="18" charset="0"/>
                <a:cs typeface="Times New Roman" panose="02020603050405020304" pitchFamily="18" charset="0"/>
              </a:rPr>
              <a:t>:</a:t>
            </a:r>
          </a:p>
          <a:p>
            <a:pPr marL="0" indent="0" algn="just">
              <a:buNone/>
            </a:pPr>
            <a:r>
              <a:rPr lang="en-US" sz="1600" dirty="0">
                <a:latin typeface="Times New Roman" panose="02020603050405020304" pitchFamily="18" charset="0"/>
                <a:cs typeface="Times New Roman" panose="02020603050405020304" pitchFamily="18" charset="0"/>
              </a:rPr>
              <a:t>By providing data-driven insights, the system will help students make informed decisions about electives, potentially reducing the likelihood of dropouts or poor performance in courses that do not align with their skills or interests.</a:t>
            </a:r>
          </a:p>
          <a:p>
            <a:pPr algn="just"/>
            <a:r>
              <a:rPr lang="en-US" sz="1600" b="1" dirty="0">
                <a:latin typeface="Times New Roman" panose="02020603050405020304" pitchFamily="18" charset="0"/>
                <a:cs typeface="Times New Roman" panose="02020603050405020304" pitchFamily="18" charset="0"/>
              </a:rPr>
              <a:t>Scalable and Efficient Recommendation Engine</a:t>
            </a:r>
            <a:r>
              <a:rPr lang="en-US" sz="1600" dirty="0">
                <a:latin typeface="Times New Roman" panose="02020603050405020304" pitchFamily="18" charset="0"/>
                <a:cs typeface="Times New Roman" panose="02020603050405020304" pitchFamily="18" charset="0"/>
              </a:rPr>
              <a:t>:</a:t>
            </a:r>
          </a:p>
          <a:p>
            <a:pPr marL="0" indent="0" algn="just">
              <a:buNone/>
            </a:pPr>
            <a:r>
              <a:rPr lang="en-US" sz="1600" dirty="0">
                <a:latin typeface="Times New Roman" panose="02020603050405020304" pitchFamily="18" charset="0"/>
                <a:cs typeface="Times New Roman" panose="02020603050405020304" pitchFamily="18" charset="0"/>
              </a:rPr>
              <a:t>With the integration of neural collaborative filtering and scalable cloud-based deployment, the system will handle a large number of students and courses efficiently, making it suitable for universities with diverse offerings.</a:t>
            </a:r>
          </a:p>
          <a:p>
            <a:pPr algn="just"/>
            <a:r>
              <a:rPr lang="en-US" sz="1600" b="1" dirty="0">
                <a:latin typeface="Times New Roman" panose="02020603050405020304" pitchFamily="18" charset="0"/>
                <a:cs typeface="Times New Roman" panose="02020603050405020304" pitchFamily="18" charset="0"/>
              </a:rPr>
              <a:t>Enhanced Student Engagement</a:t>
            </a:r>
            <a:r>
              <a:rPr lang="en-US" sz="1600" dirty="0">
                <a:latin typeface="Times New Roman" panose="02020603050405020304" pitchFamily="18" charset="0"/>
                <a:cs typeface="Times New Roman" panose="02020603050405020304" pitchFamily="18" charset="0"/>
              </a:rPr>
              <a:t>:</a:t>
            </a:r>
          </a:p>
          <a:p>
            <a:pPr marL="0" indent="0" algn="just">
              <a:buNone/>
            </a:pPr>
            <a:r>
              <a:rPr lang="en-US" sz="1600" dirty="0">
                <a:latin typeface="Times New Roman" panose="02020603050405020304" pitchFamily="18" charset="0"/>
                <a:cs typeface="Times New Roman" panose="02020603050405020304" pitchFamily="18" charset="0"/>
              </a:rPr>
              <a:t>The real-time feedback loop and interactive UI will encourage students to engage with the system, providing valuable insights that will refine future recommendations and increase trust in the system.</a:t>
            </a:r>
          </a:p>
          <a:p>
            <a:pPr algn="just"/>
            <a:r>
              <a:rPr lang="en-US" sz="1600" b="1" dirty="0">
                <a:latin typeface="Times New Roman" panose="02020603050405020304" pitchFamily="18" charset="0"/>
                <a:cs typeface="Times New Roman" panose="02020603050405020304" pitchFamily="18" charset="0"/>
              </a:rPr>
              <a:t>Data-Driven Academic Insights</a:t>
            </a:r>
            <a:r>
              <a:rPr lang="en-US" sz="1600" dirty="0">
                <a:latin typeface="Times New Roman" panose="02020603050405020304" pitchFamily="18" charset="0"/>
                <a:cs typeface="Times New Roman" panose="02020603050405020304" pitchFamily="18" charset="0"/>
              </a:rPr>
              <a:t>:</a:t>
            </a:r>
          </a:p>
          <a:p>
            <a:pPr marL="0" indent="0" algn="just">
              <a:buNone/>
            </a:pPr>
            <a:r>
              <a:rPr lang="en-US" sz="1600" dirty="0">
                <a:latin typeface="Times New Roman" panose="02020603050405020304" pitchFamily="18" charset="0"/>
                <a:cs typeface="Times New Roman" panose="02020603050405020304" pitchFamily="18" charset="0"/>
              </a:rPr>
              <a:t>Universities and faculty can leverage the data collected from student preferences and behavior to identify popular courses, anticipate future demand, and adjust elective offerings accordingly.</a:t>
            </a:r>
          </a:p>
          <a:p>
            <a:pPr algn="just"/>
            <a:r>
              <a:rPr lang="en-US" sz="1600" b="1" dirty="0">
                <a:latin typeface="Times New Roman" panose="02020603050405020304" pitchFamily="18" charset="0"/>
                <a:cs typeface="Times New Roman" panose="02020603050405020304" pitchFamily="18" charset="0"/>
              </a:rPr>
              <a:t>Transparency and Fairness in Recommendations</a:t>
            </a:r>
            <a:r>
              <a:rPr lang="en-US" sz="1600" dirty="0">
                <a:latin typeface="Times New Roman" panose="02020603050405020304" pitchFamily="18" charset="0"/>
                <a:cs typeface="Times New Roman" panose="02020603050405020304" pitchFamily="18" charset="0"/>
              </a:rPr>
              <a:t>:</a:t>
            </a:r>
          </a:p>
          <a:p>
            <a:pPr marL="0" indent="0" algn="just">
              <a:buNone/>
            </a:pPr>
            <a:r>
              <a:rPr lang="en-US" sz="1600" dirty="0">
                <a:latin typeface="Times New Roman" panose="02020603050405020304" pitchFamily="18" charset="0"/>
                <a:cs typeface="Times New Roman" panose="02020603050405020304" pitchFamily="18" charset="0"/>
              </a:rPr>
              <a:t>By incorporating fairness-aware algorithms and explainability techniques, the system will provide equitable recommendations, minimizing biases based on demographics, while offering transparency in how suggestions are made.</a:t>
            </a:r>
          </a:p>
          <a:p>
            <a:pPr marL="0" indent="0">
              <a:buNone/>
            </a:pPr>
            <a:endParaRPr lang="en-US" sz="1200" dirty="0"/>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endParaRPr lang="en-US" dirty="0"/>
          </a:p>
          <a:p>
            <a:pPr marL="0" indent="0">
              <a:buNone/>
            </a:pPr>
            <a:endParaRPr lang="en-US" dirty="0"/>
          </a:p>
          <a:p>
            <a:endParaRPr lang="en-GB" dirty="0"/>
          </a:p>
        </p:txBody>
      </p:sp>
    </p:spTree>
    <p:extLst>
      <p:ext uri="{BB962C8B-B14F-4D97-AF65-F5344CB8AC3E}">
        <p14:creationId xmlns:p14="http://schemas.microsoft.com/office/powerpoint/2010/main" val="1923928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Conclusion</a:t>
            </a:r>
          </a:p>
        </p:txBody>
      </p:sp>
      <p:sp>
        <p:nvSpPr>
          <p:cNvPr id="3" name="Content Placeholder 2"/>
          <p:cNvSpPr>
            <a:spLocks noGrp="1"/>
          </p:cNvSpPr>
          <p:nvPr>
            <p:ph idx="1"/>
          </p:nvPr>
        </p:nvSpPr>
        <p:spPr/>
        <p:txBody>
          <a:bodyPr/>
          <a:lstStyle/>
          <a:p>
            <a:pPr algn="just"/>
            <a:r>
              <a:rPr lang="en-US" sz="1800" dirty="0">
                <a:effectLst/>
                <a:latin typeface="Times New Roman" panose="02020603050405020304" pitchFamily="18" charset="0"/>
                <a:ea typeface="Times New Roman" panose="02020603050405020304" pitchFamily="18" charset="0"/>
              </a:rPr>
              <a:t>In this review of the Elective Recommendation System, we see a well-structured approach to aiding students in their course selection process. By leveraging user inputs regarding interests and completed courses, the system offers personalized recommendations that align with individual academic goals. The implementation of Gradio for the user interface enhances accessibility, making it easy for users to navigate the application.</a:t>
            </a:r>
            <a:endParaRPr lang="en-IN" sz="1800" dirty="0">
              <a:effectLst/>
              <a:latin typeface="Times New Roman" panose="02020603050405020304" pitchFamily="18" charset="0"/>
              <a:ea typeface="Times New Roman" panose="02020603050405020304" pitchFamily="18" charset="0"/>
            </a:endParaRPr>
          </a:p>
          <a:p>
            <a:pPr marL="0" indent="0" algn="just">
              <a:buNone/>
            </a:pPr>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algn="just"/>
            <a:r>
              <a:rPr lang="en-US" sz="1800" dirty="0">
                <a:effectLst/>
                <a:latin typeface="Times New Roman" panose="02020603050405020304" pitchFamily="18" charset="0"/>
                <a:ea typeface="Times New Roman" panose="02020603050405020304" pitchFamily="18" charset="0"/>
              </a:rPr>
              <a:t>The underlying recommendation logic effectively filters courses, ensuring that only relevant options are presented to the user. Comprehensive testing confirms the system's reliability across various scenarios, showcasing its ability to handle different input types and edge cases. The potential for deployment further extends its usability, allowing a broader student audience to benefit from this tool. Overall, the Elective Recommendation System represents a significant advancement in supporting students' educational journeys.</a:t>
            </a:r>
            <a:endParaRPr lang="en-IN" sz="1800" dirty="0">
              <a:effectLst/>
              <a:latin typeface="Times New Roman" panose="02020603050405020304" pitchFamily="18" charset="0"/>
              <a:ea typeface="Times New Roman" panose="02020603050405020304" pitchFamily="18" charset="0"/>
            </a:endParaRPr>
          </a:p>
          <a:p>
            <a:endParaRPr lang="en-GB" dirty="0"/>
          </a:p>
        </p:txBody>
      </p:sp>
    </p:spTree>
    <p:extLst>
      <p:ext uri="{BB962C8B-B14F-4D97-AF65-F5344CB8AC3E}">
        <p14:creationId xmlns:p14="http://schemas.microsoft.com/office/powerpoint/2010/main" val="2238571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lnSpc>
                <a:spcPct val="200000"/>
              </a:lnSpc>
              <a:spcBef>
                <a:spcPts val="0"/>
              </a:spcBef>
              <a:buSzPct val="100000"/>
              <a:buFont typeface="Arial"/>
              <a:buNone/>
            </a:pPr>
            <a:r>
              <a:rPr lang="en-US" sz="2200" dirty="0">
                <a:latin typeface="Cambria" panose="02040503050406030204" pitchFamily="18" charset="0"/>
                <a:ea typeface="Cambria" panose="02040503050406030204" pitchFamily="18" charset="0"/>
                <a:hlinkClick r:id="rId3"/>
              </a:rPr>
              <a:t>https://github.com/ADARSH-S102/CST-G05_Elective_Recommendation_System</a:t>
            </a:r>
            <a:endParaRPr lang="en-US" sz="2200"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a:xfrm>
            <a:off x="812800" y="1109135"/>
            <a:ext cx="10668000" cy="4952997"/>
          </a:xfrm>
        </p:spPr>
        <p:txBody>
          <a:bodyPr>
            <a:normAutofit/>
          </a:bodyPr>
          <a:lstStyle/>
          <a:p>
            <a:r>
              <a:rPr lang="en-US" sz="1800" b="1" dirty="0">
                <a:latin typeface="Times New Roman" panose="02020603050405020304" pitchFamily="18" charset="0"/>
                <a:cs typeface="Times New Roman" panose="02020603050405020304" pitchFamily="18" charset="0"/>
              </a:rPr>
              <a:t>Cai, H., Zhang, L., Wang, J., &amp; Yang, J. </a:t>
            </a:r>
            <a:r>
              <a:rPr lang="en-US" sz="1800" dirty="0">
                <a:latin typeface="Times New Roman" panose="02020603050405020304" pitchFamily="18" charset="0"/>
                <a:cs typeface="Times New Roman" panose="02020603050405020304" pitchFamily="18" charset="0"/>
              </a:rPr>
              <a:t>(2022). Collaborative filtering approaches for elective course recommendations. </a:t>
            </a:r>
            <a:r>
              <a:rPr lang="en-US" sz="1800" i="1" dirty="0">
                <a:latin typeface="Times New Roman" panose="02020603050405020304" pitchFamily="18" charset="0"/>
                <a:cs typeface="Times New Roman" panose="02020603050405020304" pitchFamily="18" charset="0"/>
              </a:rPr>
              <a:t>International Journal of Emerging Technologies in Learning (</a:t>
            </a:r>
            <a:r>
              <a:rPr lang="en-US" sz="1800" i="1" dirty="0" err="1">
                <a:latin typeface="Times New Roman" panose="02020603050405020304" pitchFamily="18" charset="0"/>
                <a:cs typeface="Times New Roman" panose="02020603050405020304" pitchFamily="18" charset="0"/>
              </a:rPr>
              <a:t>iJET</a:t>
            </a:r>
            <a:r>
              <a:rPr lang="en-US" sz="1800" i="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17(3), 135-147.</a:t>
            </a:r>
          </a:p>
          <a:p>
            <a:pPr marL="0" indent="0">
              <a:buNone/>
            </a:pPr>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Choe, J., Kim, K., &amp; Kim, S. </a:t>
            </a:r>
            <a:r>
              <a:rPr lang="en-US" sz="1800" dirty="0">
                <a:latin typeface="Times New Roman" panose="02020603050405020304" pitchFamily="18" charset="0"/>
                <a:cs typeface="Times New Roman" panose="02020603050405020304" pitchFamily="18" charset="0"/>
              </a:rPr>
              <a:t>(2021). Hybrid recommender systems in education: An approach for elective courses. </a:t>
            </a:r>
            <a:r>
              <a:rPr lang="en-US" sz="1800" i="1" dirty="0">
                <a:latin typeface="Times New Roman" panose="02020603050405020304" pitchFamily="18" charset="0"/>
                <a:cs typeface="Times New Roman" panose="02020603050405020304" pitchFamily="18" charset="0"/>
              </a:rPr>
              <a:t>Journal of Educational Technology Systems</a:t>
            </a:r>
            <a:r>
              <a:rPr lang="en-US" sz="1800" dirty="0">
                <a:latin typeface="Times New Roman" panose="02020603050405020304" pitchFamily="18" charset="0"/>
                <a:cs typeface="Times New Roman" panose="02020603050405020304" pitchFamily="18" charset="0"/>
              </a:rPr>
              <a:t>, 50(2), 219-235.</a:t>
            </a:r>
          </a:p>
          <a:p>
            <a:pPr marL="0" indent="0">
              <a:buNone/>
            </a:pPr>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Mohamed, A., Liu, L., &amp; Zhang, X. </a:t>
            </a:r>
            <a:r>
              <a:rPr lang="en-US" sz="1800" dirty="0">
                <a:latin typeface="Times New Roman" panose="02020603050405020304" pitchFamily="18" charset="0"/>
                <a:cs typeface="Times New Roman" panose="02020603050405020304" pitchFamily="18" charset="0"/>
              </a:rPr>
              <a:t>(2020). Contextual filtering for elective course selection. </a:t>
            </a:r>
            <a:r>
              <a:rPr lang="en-US" sz="1800" i="1" dirty="0">
                <a:latin typeface="Times New Roman" panose="02020603050405020304" pitchFamily="18" charset="0"/>
                <a:cs typeface="Times New Roman" panose="02020603050405020304" pitchFamily="18" charset="0"/>
              </a:rPr>
              <a:t>International Journal of Artificial Intelligence in Education</a:t>
            </a:r>
            <a:r>
              <a:rPr lang="en-US" sz="1800" dirty="0">
                <a:latin typeface="Times New Roman" panose="02020603050405020304" pitchFamily="18" charset="0"/>
                <a:cs typeface="Times New Roman" panose="02020603050405020304" pitchFamily="18" charset="0"/>
              </a:rPr>
              <a:t>, 30(4), 652-671.</a:t>
            </a:r>
          </a:p>
          <a:p>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Tahiru, F., Kumar, V., &amp; Singh, P. </a:t>
            </a:r>
            <a:r>
              <a:rPr lang="en-US" sz="1800" dirty="0">
                <a:latin typeface="Times New Roman" panose="02020603050405020304" pitchFamily="18" charset="0"/>
                <a:cs typeface="Times New Roman" panose="02020603050405020304" pitchFamily="18" charset="0"/>
              </a:rPr>
              <a:t>(2021). AI-driven elective recommendation systems using deep learning. </a:t>
            </a:r>
            <a:r>
              <a:rPr lang="en-US" sz="1800" i="1" dirty="0">
                <a:latin typeface="Times New Roman" panose="02020603050405020304" pitchFamily="18" charset="0"/>
                <a:cs typeface="Times New Roman" panose="02020603050405020304" pitchFamily="18" charset="0"/>
              </a:rPr>
              <a:t>Journal of Artificial Intelligence in Education</a:t>
            </a:r>
            <a:r>
              <a:rPr lang="en-US" sz="1800" dirty="0">
                <a:latin typeface="Times New Roman" panose="02020603050405020304" pitchFamily="18" charset="0"/>
                <a:cs typeface="Times New Roman" panose="02020603050405020304" pitchFamily="18" charset="0"/>
              </a:rPr>
              <a:t>, 28(1), 45-65. </a:t>
            </a:r>
          </a:p>
          <a:p>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Assavakamhaenghan, S., &amp; Likhitwong, S. </a:t>
            </a:r>
            <a:r>
              <a:rPr lang="en-US" sz="1800" dirty="0">
                <a:latin typeface="Times New Roman" panose="02020603050405020304" pitchFamily="18" charset="0"/>
                <a:cs typeface="Times New Roman" panose="02020603050405020304" pitchFamily="18" charset="0"/>
              </a:rPr>
              <a:t>(2022). Machine learning in elective recommender systems. </a:t>
            </a:r>
            <a:r>
              <a:rPr lang="en-US" sz="1800" i="1" dirty="0">
                <a:latin typeface="Times New Roman" panose="02020603050405020304" pitchFamily="18" charset="0"/>
                <a:cs typeface="Times New Roman" panose="02020603050405020304" pitchFamily="18" charset="0"/>
              </a:rPr>
              <a:t>Journal of Educational Technology &amp; Society, 25</a:t>
            </a:r>
            <a:r>
              <a:rPr lang="en-US" sz="1800" dirty="0">
                <a:latin typeface="Times New Roman" panose="02020603050405020304" pitchFamily="18" charset="0"/>
                <a:cs typeface="Times New Roman" panose="02020603050405020304" pitchFamily="18" charset="0"/>
              </a:rPr>
              <a:t>(2), 45-59.</a:t>
            </a:r>
          </a:p>
          <a:p>
            <a:pPr marL="0" indent="0">
              <a:buNone/>
            </a:pPr>
            <a:endParaRPr lang="en-US" sz="1600" dirty="0">
              <a:latin typeface="Times New Roman" panose="02020603050405020304" pitchFamily="18" charset="0"/>
              <a:cs typeface="Times New Roman" panose="02020603050405020304" pitchFamily="18" charset="0"/>
            </a:endParaRPr>
          </a:p>
          <a:p>
            <a:endParaRPr lang="en-US" dirty="0"/>
          </a:p>
          <a:p>
            <a:endParaRPr lang="en-GB" dirty="0"/>
          </a:p>
        </p:txBody>
      </p:sp>
    </p:spTree>
    <p:extLst>
      <p:ext uri="{BB962C8B-B14F-4D97-AF65-F5344CB8AC3E}">
        <p14:creationId xmlns:p14="http://schemas.microsoft.com/office/powerpoint/2010/main" val="36138633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38A02-66E7-D4A9-0B63-EC7A4969F9A5}"/>
              </a:ext>
            </a:extLst>
          </p:cNvPr>
          <p:cNvSpPr>
            <a:spLocks noGrp="1"/>
          </p:cNvSpPr>
          <p:nvPr>
            <p:ph type="title"/>
          </p:nvPr>
        </p:nvSpPr>
        <p:spPr/>
        <p:txBody>
          <a:bodyPr/>
          <a:lstStyle/>
          <a:p>
            <a:r>
              <a:rPr lang="en-US" dirty="0"/>
              <a:t>Project work mapping with SDG</a:t>
            </a:r>
            <a:endParaRPr lang="en-IN" dirty="0"/>
          </a:p>
        </p:txBody>
      </p:sp>
      <p:sp>
        <p:nvSpPr>
          <p:cNvPr id="4" name="AutoShape 2" descr="Image preview">
            <a:extLst>
              <a:ext uri="{FF2B5EF4-FFF2-40B4-BE49-F238E27FC236}">
                <a16:creationId xmlns:a16="http://schemas.microsoft.com/office/drawing/2014/main" id="{96B0E362-745E-C478-1396-BA189B71502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90DEF78C-A0C4-EB04-02C4-4052E05259EB}"/>
              </a:ext>
            </a:extLst>
          </p:cNvPr>
          <p:cNvPicPr>
            <a:picLocks noChangeAspect="1"/>
          </p:cNvPicPr>
          <p:nvPr/>
        </p:nvPicPr>
        <p:blipFill>
          <a:blip r:embed="rId2"/>
          <a:stretch>
            <a:fillRect/>
          </a:stretch>
        </p:blipFill>
        <p:spPr>
          <a:xfrm>
            <a:off x="3004613" y="982852"/>
            <a:ext cx="5877973" cy="5138548"/>
          </a:xfrm>
          <a:prstGeom prst="rect">
            <a:avLst/>
          </a:prstGeom>
        </p:spPr>
      </p:pic>
    </p:spTree>
    <p:extLst>
      <p:ext uri="{BB962C8B-B14F-4D97-AF65-F5344CB8AC3E}">
        <p14:creationId xmlns:p14="http://schemas.microsoft.com/office/powerpoint/2010/main" val="3795449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pPr marL="0" indent="0" algn="ctr">
              <a:buNone/>
            </a:pPr>
            <a:endParaRPr lang="en-GB" sz="4400" dirty="0"/>
          </a:p>
          <a:p>
            <a:pPr marL="0" indent="0" algn="ctr">
              <a:buNone/>
            </a:pPr>
            <a:endParaRPr lang="en-GB" sz="4400" dirty="0"/>
          </a:p>
          <a:p>
            <a:pPr marL="0" indent="0" algn="ctr">
              <a:buNone/>
            </a:pPr>
            <a:r>
              <a:rPr lang="en-GB" sz="6000" dirty="0"/>
              <a:t>Thank You</a:t>
            </a:r>
          </a:p>
        </p:txBody>
      </p:sp>
    </p:spTree>
    <p:extLst>
      <p:ext uri="{BB962C8B-B14F-4D97-AF65-F5344CB8AC3E}">
        <p14:creationId xmlns:p14="http://schemas.microsoft.com/office/powerpoint/2010/main" val="3691672322"/>
      </p:ext>
    </p:extLst>
  </p:cSld>
  <p:clrMapOvr>
    <a:masterClrMapping/>
  </p:clrMapOvr>
</p:sld>
</file>

<file path=ppt/theme/theme1.xml><?xml version="1.0" encoding="utf-8"?>
<a:theme xmlns:a="http://schemas.openxmlformats.org/drawingml/2006/main" name="Bioinformatic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Bookman Old Style"/>
        <a:ea typeface=""/>
        <a:cs typeface=""/>
      </a:majorFont>
      <a:minorFont>
        <a:latin typeface="Bookman Old Styl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Bioinformatics" id="{2C23B8A5-E958-4A8C-AECF-01EA482D72F9}" vid="{45DF3A2B-1BA7-4465-AD96-220179DE36D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Bioinformatics</Template>
  <TotalTime>123</TotalTime>
  <Words>1989</Words>
  <Application>Microsoft Office PowerPoint</Application>
  <PresentationFormat>Widescreen</PresentationFormat>
  <Paragraphs>169</Paragraphs>
  <Slides>14</Slides>
  <Notes>2</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Bioinformatics</vt:lpstr>
      <vt:lpstr>ELECTIVE RECOMMENDATION SYSTEM</vt:lpstr>
      <vt:lpstr>Introduction</vt:lpstr>
      <vt:lpstr>Literature Review</vt:lpstr>
      <vt:lpstr>Objectives</vt:lpstr>
      <vt:lpstr>Methodology/Modules</vt:lpstr>
      <vt:lpstr>Methodology/Modules</vt:lpstr>
      <vt:lpstr>Hardware/software components</vt:lpstr>
      <vt:lpstr>Timeline of Project</vt:lpstr>
      <vt:lpstr>Expected Outcomes</vt:lpstr>
      <vt:lpstr>Conclusion</vt:lpstr>
      <vt:lpstr>Github Link</vt:lpstr>
      <vt:lpstr>References</vt:lpstr>
      <vt:lpstr>Project work mapping with SDG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Sanjeev P Kaulgud-Asst. Prof-CSE</dc:creator>
  <cp:lastModifiedBy>YESHAS H RAO</cp:lastModifiedBy>
  <cp:revision>30</cp:revision>
  <dcterms:created xsi:type="dcterms:W3CDTF">2023-03-16T03:26:27Z</dcterms:created>
  <dcterms:modified xsi:type="dcterms:W3CDTF">2024-10-17T13:21:01Z</dcterms:modified>
</cp:coreProperties>
</file>